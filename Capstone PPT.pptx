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795" r:id="rId1"/>
  </p:sldMasterIdLst>
  <p:notesMasterIdLst>
    <p:notesMasterId r:id="rId34"/>
  </p:notesMasterIdLst>
  <p:sldIdLst>
    <p:sldId id="256" r:id="rId2"/>
    <p:sldId id="262" r:id="rId3"/>
    <p:sldId id="293" r:id="rId4"/>
    <p:sldId id="266" r:id="rId5"/>
    <p:sldId id="282" r:id="rId6"/>
    <p:sldId id="304" r:id="rId7"/>
    <p:sldId id="269" r:id="rId8"/>
    <p:sldId id="321" r:id="rId9"/>
    <p:sldId id="309" r:id="rId10"/>
    <p:sldId id="311" r:id="rId11"/>
    <p:sldId id="312" r:id="rId12"/>
    <p:sldId id="314" r:id="rId13"/>
    <p:sldId id="323" r:id="rId14"/>
    <p:sldId id="296" r:id="rId15"/>
    <p:sldId id="325" r:id="rId16"/>
    <p:sldId id="326" r:id="rId17"/>
    <p:sldId id="329" r:id="rId18"/>
    <p:sldId id="330" r:id="rId19"/>
    <p:sldId id="332" r:id="rId20"/>
    <p:sldId id="343" r:id="rId21"/>
    <p:sldId id="335" r:id="rId22"/>
    <p:sldId id="336" r:id="rId23"/>
    <p:sldId id="337" r:id="rId24"/>
    <p:sldId id="338" r:id="rId25"/>
    <p:sldId id="340" r:id="rId26"/>
    <p:sldId id="345" r:id="rId27"/>
    <p:sldId id="347" r:id="rId28"/>
    <p:sldId id="348" r:id="rId29"/>
    <p:sldId id="349" r:id="rId30"/>
    <p:sldId id="279" r:id="rId31"/>
    <p:sldId id="277" r:id="rId32"/>
    <p:sldId id="280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FF"/>
    <a:srgbClr val="C59B15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98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931" y="7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9A063-256E-41AB-9A74-C9DAB198C5E4}" type="datetimeFigureOut">
              <a:rPr lang="en-IN" smtClean="0"/>
              <a:t>30-07-2026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A9F2B-8440-4187-A92D-C42521A57E4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8531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A9F2B-8440-4187-A92D-C42521A57E49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0102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560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777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89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894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468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589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389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356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944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592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111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25383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9618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62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534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6530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875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0305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796" r:id="rId1"/>
    <p:sldLayoutId id="2147484797" r:id="rId2"/>
    <p:sldLayoutId id="2147484798" r:id="rId3"/>
    <p:sldLayoutId id="2147484799" r:id="rId4"/>
    <p:sldLayoutId id="2147484800" r:id="rId5"/>
    <p:sldLayoutId id="2147484801" r:id="rId6"/>
    <p:sldLayoutId id="2147484802" r:id="rId7"/>
    <p:sldLayoutId id="2147484803" r:id="rId8"/>
    <p:sldLayoutId id="2147484804" r:id="rId9"/>
    <p:sldLayoutId id="2147484805" r:id="rId10"/>
    <p:sldLayoutId id="2147484806" r:id="rId11"/>
    <p:sldLayoutId id="2147484807" r:id="rId12"/>
    <p:sldLayoutId id="2147484808" r:id="rId13"/>
    <p:sldLayoutId id="2147484809" r:id="rId14"/>
    <p:sldLayoutId id="2147484810" r:id="rId15"/>
    <p:sldLayoutId id="2147484811" r:id="rId16"/>
    <p:sldLayoutId id="214748481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hCkf4DwaASUn6DRVKqQqgL4T3xRJrjK0/edit?usp=drive_link&amp;ouid=106429949478899835508&amp;rtpof=true&amp;sd=true&amp;utm_source=chatgpt.com" TargetMode="External"/><Relationship Id="rId2" Type="http://schemas.openxmlformats.org/officeDocument/2006/relationships/hyperlink" Target="https://docs.google.com/spreadsheets/d/1Y7XUnshfLhh0uzTBMNB-68gIjhPhnGFY/edit?usp=drive_link&amp;ouid=106429949478899835508&amp;rtpof=true&amp;sd=true&amp;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google.com/spreadsheets/d/19L2x-XOnFSX2D2HizbZML_UZ-SCGarOG/edit?usp=sharing&amp;ouid=106429949478899835508&amp;rtpof=true&amp;sd=true&amp;utm_source=chatgpt.com" TargetMode="External"/><Relationship Id="rId5" Type="http://schemas.openxmlformats.org/officeDocument/2006/relationships/hyperlink" Target="https://docs.google.com/spreadsheets/d/1_MrDuTcorEJfaPIQHofN5D8KW7s1brKB/edit?usp=sharing&amp;ouid=106429949478899835508&amp;rtpof=true&amp;sd=true&amp;utm_source=chatgpt.com" TargetMode="External"/><Relationship Id="rId4" Type="http://schemas.openxmlformats.org/officeDocument/2006/relationships/hyperlink" Target="https://docs.google.com/spreadsheets/d/1gajYkYTCmpgCB7w8uGLqLxt4kWmtrdul/edit?usp=sharing&amp;ouid=106429949478899835508&amp;rtpof=true&amp;sd=true&amp;utm_source=chatgpt.com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49.png"/><Relationship Id="rId4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0D6F8-84FB-3A56-E4CB-33B2C1E8C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1520" y="3215640"/>
            <a:ext cx="10988903" cy="3558384"/>
          </a:xfrm>
        </p:spPr>
        <p:txBody>
          <a:bodyPr>
            <a:normAutofit/>
          </a:bodyPr>
          <a:lstStyle/>
          <a:p>
            <a:pPr algn="ctr"/>
            <a:br>
              <a:rPr lang="en-IN" sz="1800" dirty="0"/>
            </a:br>
            <a:br>
              <a:rPr lang="en-IN" sz="1800" dirty="0"/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 SRINIVAS HEMANT PATEL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 : Professional Program in Data Analytics with Gen AI - 71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name : ASHISH RAJPUT</a:t>
            </a:r>
            <a:br>
              <a:rPr lang="en-IN" sz="1800" dirty="0"/>
            </a:br>
            <a:br>
              <a:rPr lang="en-IN" sz="2400" dirty="0"/>
            </a:br>
            <a:br>
              <a:rPr lang="en-US" dirty="0">
                <a:solidFill>
                  <a:srgbClr val="002060"/>
                </a:solidFill>
              </a:rPr>
            </a:b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D90A44-9117-CEB3-150B-5587870AD121}"/>
              </a:ext>
            </a:extLst>
          </p:cNvPr>
          <p:cNvSpPr txBox="1"/>
          <p:nvPr/>
        </p:nvSpPr>
        <p:spPr>
          <a:xfrm>
            <a:off x="1608069" y="1791477"/>
            <a:ext cx="98158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6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OTT Platform Viewing Patterns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3B0A3D1-8619-3A15-DAC4-F0C060FD3918}"/>
              </a:ext>
            </a:extLst>
          </p:cNvPr>
          <p:cNvSpPr txBox="1">
            <a:spLocks/>
          </p:cNvSpPr>
          <p:nvPr/>
        </p:nvSpPr>
        <p:spPr>
          <a:xfrm>
            <a:off x="1958406" y="3125755"/>
            <a:ext cx="9115133" cy="2939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dirty="0">
              <a:solidFill>
                <a:schemeClr val="tx2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130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B1B30-D35C-73EE-DBC2-B78E090AE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3" y="406439"/>
            <a:ext cx="9927357" cy="601267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1BDA67A-5646-9853-4187-3CB4AA85C9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64698" y="1791215"/>
            <a:ext cx="9535886" cy="4418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OTT platforms have changed the way people watch movies, TV shows, and web series. 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user viewing behaviour helps improve content recommendations and customer satisfaction. 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subscriptions and user engagement supports better business planning. 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examines viewing patterns, content performance, and customer feedback. 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insights help OTT platforms enhance user experience and make informed business decisions. </a:t>
            </a:r>
          </a:p>
        </p:txBody>
      </p:sp>
    </p:spTree>
    <p:extLst>
      <p:ext uri="{BB962C8B-B14F-4D97-AF65-F5344CB8AC3E}">
        <p14:creationId xmlns:p14="http://schemas.microsoft.com/office/powerpoint/2010/main" val="329296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47FE7-0C72-5C28-7EE4-ACDC1555D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00116-1F29-4392-C2D6-56340F152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3" y="285141"/>
            <a:ext cx="9927357" cy="601267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7BDEEBE-7B3B-483D-8542-4AB86D9FFC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47172" y="1110081"/>
            <a:ext cx="9386596" cy="5462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 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NIIT Portal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Totals No. of Datasets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 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BCE7921-45DC-ECC1-74E0-46D03921A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961095"/>
              </p:ext>
            </p:extLst>
          </p:nvPr>
        </p:nvGraphicFramePr>
        <p:xfrm>
          <a:off x="1336875" y="2497394"/>
          <a:ext cx="9906000" cy="309715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934377">
                  <a:extLst>
                    <a:ext uri="{9D8B030D-6E8A-4147-A177-3AD203B41FA5}">
                      <a16:colId xmlns:a16="http://schemas.microsoft.com/office/drawing/2014/main" val="3634427545"/>
                    </a:ext>
                  </a:extLst>
                </a:gridCol>
                <a:gridCol w="3372464">
                  <a:extLst>
                    <a:ext uri="{9D8B030D-6E8A-4147-A177-3AD203B41FA5}">
                      <a16:colId xmlns:a16="http://schemas.microsoft.com/office/drawing/2014/main" val="3621242169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2997792109"/>
                    </a:ext>
                  </a:extLst>
                </a:gridCol>
                <a:gridCol w="3799856">
                  <a:extLst>
                    <a:ext uri="{9D8B030D-6E8A-4147-A177-3AD203B41FA5}">
                      <a16:colId xmlns:a16="http://schemas.microsoft.com/office/drawing/2014/main" val="731264731"/>
                    </a:ext>
                  </a:extLst>
                </a:gridCol>
              </a:tblGrid>
              <a:tr h="51619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Dataset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No. of Rows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Dataset Link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8945434"/>
                  </a:ext>
                </a:extLst>
              </a:tr>
              <a:tr h="51619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User_Profile.xlsx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hlinkClick r:id="rId2"/>
                        </a:rPr>
                        <a:t>Open Link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4123518"/>
                  </a:ext>
                </a:extLst>
              </a:tr>
              <a:tr h="51619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Viewing_Activity.xlsx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hlinkClick r:id="rId3"/>
                        </a:rPr>
                        <a:t>Open Link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0605524"/>
                  </a:ext>
                </a:extLst>
              </a:tr>
              <a:tr h="51619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Subscription_Retention.xlsx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hlinkClick r:id="rId4"/>
                        </a:rPr>
                        <a:t>Open Link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2906543"/>
                  </a:ext>
                </a:extLst>
              </a:tr>
              <a:tr h="51619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Ratings_Feedback.xlsx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hlinkClick r:id="rId5"/>
                        </a:rPr>
                        <a:t>Open Link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8745908"/>
                  </a:ext>
                </a:extLst>
              </a:tr>
              <a:tr h="51619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Content_Library.xlsx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hlinkClick r:id="rId6"/>
                        </a:rPr>
                        <a:t>Open Link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161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5130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06794-FAA2-4AB1-32FA-C5573F9BC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118" y="507582"/>
            <a:ext cx="9739764" cy="723875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solidFill>
                  <a:schemeClr val="bg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 &amp; TASKS</a:t>
            </a:r>
            <a:endParaRPr lang="en-IN" sz="3600" b="1" dirty="0">
              <a:solidFill>
                <a:schemeClr val="bg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F9C895D-BCD0-D6E0-39D7-454F2BFB5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14" y="230016"/>
            <a:ext cx="1939608" cy="124799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E9D2B6D-549A-3BBF-97E7-C0B5F89C9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018417"/>
              </p:ext>
            </p:extLst>
          </p:nvPr>
        </p:nvGraphicFramePr>
        <p:xfrm>
          <a:off x="1728574" y="1724569"/>
          <a:ext cx="9237308" cy="486428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191908">
                  <a:extLst>
                    <a:ext uri="{9D8B030D-6E8A-4147-A177-3AD203B41FA5}">
                      <a16:colId xmlns:a16="http://schemas.microsoft.com/office/drawing/2014/main" val="2626056264"/>
                    </a:ext>
                  </a:extLst>
                </a:gridCol>
                <a:gridCol w="2640563">
                  <a:extLst>
                    <a:ext uri="{9D8B030D-6E8A-4147-A177-3AD203B41FA5}">
                      <a16:colId xmlns:a16="http://schemas.microsoft.com/office/drawing/2014/main" val="2509677901"/>
                    </a:ext>
                  </a:extLst>
                </a:gridCol>
                <a:gridCol w="3095510">
                  <a:extLst>
                    <a:ext uri="{9D8B030D-6E8A-4147-A177-3AD203B41FA5}">
                      <a16:colId xmlns:a16="http://schemas.microsoft.com/office/drawing/2014/main" val="1709440452"/>
                    </a:ext>
                  </a:extLst>
                </a:gridCol>
                <a:gridCol w="2309327">
                  <a:extLst>
                    <a:ext uri="{9D8B030D-6E8A-4147-A177-3AD203B41FA5}">
                      <a16:colId xmlns:a16="http://schemas.microsoft.com/office/drawing/2014/main" val="3438682718"/>
                    </a:ext>
                  </a:extLst>
                </a:gridCol>
              </a:tblGrid>
              <a:tr h="260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No.</a:t>
                      </a:r>
                    </a:p>
                  </a:txBody>
                  <a:tcPr marL="50596" marR="50596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</a:p>
                  </a:txBody>
                  <a:tcPr marL="50596" marR="50596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Tasks</a:t>
                      </a:r>
                    </a:p>
                  </a:txBody>
                  <a:tcPr marL="50596" marR="50596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</a:t>
                      </a:r>
                    </a:p>
                  </a:txBody>
                  <a:tcPr marL="50596" marR="50596" marT="25298" marB="25298" anchor="ctr"/>
                </a:tc>
                <a:extLst>
                  <a:ext uri="{0D108BD9-81ED-4DB2-BD59-A6C34878D82A}">
                    <a16:rowId xmlns:a16="http://schemas.microsoft.com/office/drawing/2014/main" val="2439173421"/>
                  </a:ext>
                </a:extLst>
              </a:tr>
              <a:tr h="847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0596" marR="50596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 Popular Content</a:t>
                      </a:r>
                    </a:p>
                  </a:txBody>
                  <a:tcPr marL="50596" marR="50596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 Preference Analysis, Platform Comparison, Content Performance</a:t>
                      </a:r>
                    </a:p>
                  </a:txBody>
                  <a:tcPr marL="50596" marR="50596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</a:t>
                      </a:r>
                    </a:p>
                  </a:txBody>
                  <a:tcPr marL="50596" marR="50596" marT="25298" marB="25298" anchor="ctr"/>
                </a:tc>
                <a:extLst>
                  <a:ext uri="{0D108BD9-81ED-4DB2-BD59-A6C34878D82A}">
                    <a16:rowId xmlns:a16="http://schemas.microsoft.com/office/drawing/2014/main" val="4268246023"/>
                  </a:ext>
                </a:extLst>
              </a:tr>
              <a:tr h="847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50596" marR="50596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Viewing Behaviour</a:t>
                      </a:r>
                    </a:p>
                  </a:txBody>
                  <a:tcPr marL="50596" marR="50596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Audience Analysis, Device &amp; Region Analysis, Peak Viewing Time</a:t>
                      </a:r>
                    </a:p>
                  </a:txBody>
                  <a:tcPr marL="50596" marR="50596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</a:t>
                      </a:r>
                    </a:p>
                  </a:txBody>
                  <a:tcPr marL="50596" marR="50596" marT="25298" marB="25298" anchor="ctr"/>
                </a:tc>
                <a:extLst>
                  <a:ext uri="{0D108BD9-81ED-4DB2-BD59-A6C34878D82A}">
                    <a16:rowId xmlns:a16="http://schemas.microsoft.com/office/drawing/2014/main" val="1526772893"/>
                  </a:ext>
                </a:extLst>
              </a:tr>
              <a:tr h="8474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50596" marR="50596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 User Engagement</a:t>
                      </a:r>
                    </a:p>
                  </a:txBody>
                  <a:tcPr marL="50596" marR="50596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Subscription Comparison, Engagement Analysis, Renewal &amp; Churn Analysis</a:t>
                      </a:r>
                    </a:p>
                  </a:txBody>
                  <a:tcPr marL="50596" marR="50596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</a:p>
                  </a:txBody>
                  <a:tcPr marL="50596" marR="50596" marT="25298" marB="25298" anchor="ctr"/>
                </a:tc>
                <a:extLst>
                  <a:ext uri="{0D108BD9-81ED-4DB2-BD59-A6C34878D82A}">
                    <a16:rowId xmlns:a16="http://schemas.microsoft.com/office/drawing/2014/main" val="1045169095"/>
                  </a:ext>
                </a:extLst>
              </a:tr>
              <a:tr h="651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50596" marR="50596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 User Feedback</a:t>
                      </a:r>
                    </a:p>
                  </a:txBody>
                  <a:tcPr marL="50596" marR="50596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Ratings Analysis, Completion Behaviour, Viewing Pattern Analysis</a:t>
                      </a:r>
                    </a:p>
                  </a:txBody>
                  <a:tcPr marL="50596" marR="50596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EDA (Python)</a:t>
                      </a:r>
                    </a:p>
                  </a:txBody>
                  <a:tcPr marL="50596" marR="50596" marT="25298" marB="25298" anchor="ctr"/>
                </a:tc>
                <a:extLst>
                  <a:ext uri="{0D108BD9-81ED-4DB2-BD59-A6C34878D82A}">
                    <a16:rowId xmlns:a16="http://schemas.microsoft.com/office/drawing/2014/main" val="3458516411"/>
                  </a:ext>
                </a:extLst>
              </a:tr>
              <a:tr h="739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50596" marR="50596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 Business Insights</a:t>
                      </a:r>
                    </a:p>
                  </a:txBody>
                  <a:tcPr marL="50596" marR="50596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Interactive Dashboard, KPIs, Data Filtering</a:t>
                      </a:r>
                    </a:p>
                  </a:txBody>
                  <a:tcPr marL="50596" marR="50596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BI</a:t>
                      </a:r>
                    </a:p>
                  </a:txBody>
                  <a:tcPr marL="50596" marR="50596" marT="25298" marB="25298" anchor="ctr"/>
                </a:tc>
                <a:extLst>
                  <a:ext uri="{0D108BD9-81ED-4DB2-BD59-A6C34878D82A}">
                    <a16:rowId xmlns:a16="http://schemas.microsoft.com/office/drawing/2014/main" val="193702520"/>
                  </a:ext>
                </a:extLst>
              </a:tr>
              <a:tr h="651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50596" marR="50596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Business Decisions</a:t>
                      </a:r>
                    </a:p>
                  </a:txBody>
                  <a:tcPr marL="50596" marR="50596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Retention Prediction, Churn Prediction, Model Evaluation</a:t>
                      </a:r>
                    </a:p>
                  </a:txBody>
                  <a:tcPr marL="50596" marR="50596" marT="25298" marB="252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</a:t>
                      </a:r>
                    </a:p>
                  </a:txBody>
                  <a:tcPr marL="50596" marR="50596" marT="25298" marB="25298" anchor="ctr"/>
                </a:tc>
                <a:extLst>
                  <a:ext uri="{0D108BD9-81ED-4DB2-BD59-A6C34878D82A}">
                    <a16:rowId xmlns:a16="http://schemas.microsoft.com/office/drawing/2014/main" val="3025290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4358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B3FA4-BEDD-9885-0251-B28D5E2B6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44" y="147069"/>
            <a:ext cx="11262049" cy="459421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FLOW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A2093B-26F8-0D61-785D-6C41347FD5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02"/>
          <a:stretch>
            <a:fillRect/>
          </a:stretch>
        </p:blipFill>
        <p:spPr>
          <a:xfrm>
            <a:off x="3921994" y="606490"/>
            <a:ext cx="4348012" cy="597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432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6291F-ED7E-303C-8DFC-46B134048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492083"/>
            <a:ext cx="9905999" cy="35417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4400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1 :-  Identify Popular Content </a:t>
            </a:r>
          </a:p>
        </p:txBody>
      </p:sp>
    </p:spTree>
    <p:extLst>
      <p:ext uri="{BB962C8B-B14F-4D97-AF65-F5344CB8AC3E}">
        <p14:creationId xmlns:p14="http://schemas.microsoft.com/office/powerpoint/2010/main" val="984744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A2A50-730D-CCC5-48BF-4C4980F30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184" y="93741"/>
            <a:ext cx="11457992" cy="567999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 :- Analyze Content Preferences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64E0D2-50E2-5F0F-F371-9D2653BD54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593" t="42007" r="42526" b="14780"/>
          <a:stretch>
            <a:fillRect/>
          </a:stretch>
        </p:blipFill>
        <p:spPr>
          <a:xfrm>
            <a:off x="108857" y="2512812"/>
            <a:ext cx="3238834" cy="301091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DA697EB-942D-B7F5-D91E-BDC1BD11F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228" y="-30569"/>
            <a:ext cx="1242824" cy="8751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95F066-618A-F05E-7F9E-D9D693C37E3C}"/>
              </a:ext>
            </a:extLst>
          </p:cNvPr>
          <p:cNvSpPr txBox="1"/>
          <p:nvPr/>
        </p:nvSpPr>
        <p:spPr>
          <a:xfrm>
            <a:off x="101525" y="1465203"/>
            <a:ext cx="3238834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Which genres should the platform invest in to attract more viewers?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54C1A44-A161-299E-6D29-D5D77EDCE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452188"/>
              </p:ext>
            </p:extLst>
          </p:nvPr>
        </p:nvGraphicFramePr>
        <p:xfrm>
          <a:off x="3476514" y="1465202"/>
          <a:ext cx="3378458" cy="523221"/>
        </p:xfrm>
        <a:graphic>
          <a:graphicData uri="http://schemas.openxmlformats.org/drawingml/2006/table">
            <a:tbl>
              <a:tblPr/>
              <a:tblGrid>
                <a:gridCol w="3378458">
                  <a:extLst>
                    <a:ext uri="{9D8B030D-6E8A-4147-A177-3AD203B41FA5}">
                      <a16:colId xmlns:a16="http://schemas.microsoft.com/office/drawing/2014/main" val="1782499511"/>
                    </a:ext>
                  </a:extLst>
                </a:gridCol>
              </a:tblGrid>
              <a:tr h="5232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Q. Should the OTT focus more on Movies or TV Shows to meet customer demand?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506942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F81A4DAE-0D2C-726C-534C-63FEFCA71C2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563" t="33576" r="17890" b="5883"/>
          <a:stretch>
            <a:fillRect/>
          </a:stretch>
        </p:blipFill>
        <p:spPr>
          <a:xfrm>
            <a:off x="3476514" y="2512812"/>
            <a:ext cx="3378459" cy="3010910"/>
          </a:xfrm>
          <a:prstGeom prst="rect">
            <a:avLst/>
          </a:prstGeom>
        </p:spPr>
      </p:pic>
      <p:sp>
        <p:nvSpPr>
          <p:cNvPr id="17" name="TextBox 5">
            <a:extLst>
              <a:ext uri="{FF2B5EF4-FFF2-40B4-BE49-F238E27FC236}">
                <a16:creationId xmlns:a16="http://schemas.microsoft.com/office/drawing/2014/main" id="{3909E1C4-47DB-54E1-B72D-6EC3CCD90C5B}"/>
              </a:ext>
            </a:extLst>
          </p:cNvPr>
          <p:cNvSpPr txBox="1"/>
          <p:nvPr/>
        </p:nvSpPr>
        <p:spPr>
          <a:xfrm>
            <a:off x="101525" y="5774009"/>
            <a:ext cx="3238834" cy="74353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Drama movies is the most dominant genre, making it the best content category for future investment.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596D4F4C-985C-00EE-C14E-A3E4435DFFD6}"/>
              </a:ext>
            </a:extLst>
          </p:cNvPr>
          <p:cNvSpPr txBox="1"/>
          <p:nvPr/>
        </p:nvSpPr>
        <p:spPr>
          <a:xfrm>
            <a:off x="3548130" y="5774009"/>
            <a:ext cx="3306842" cy="74353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platform should </a:t>
            </a:r>
            <a:r>
              <a:rPr lang="en-IN" sz="14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 more on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Movies , along with increasing  investments in TV Shows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9A68E40-4AF0-F5B2-2237-E81DF018AE5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735" t="30441" r="34254" b="6912"/>
          <a:stretch>
            <a:fillRect/>
          </a:stretch>
        </p:blipFill>
        <p:spPr>
          <a:xfrm>
            <a:off x="7001098" y="2512812"/>
            <a:ext cx="5082045" cy="301091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A2CFFD9-BA00-AB23-F77A-40D8B2066A23}"/>
              </a:ext>
            </a:extLst>
          </p:cNvPr>
          <p:cNvSpPr txBox="1"/>
          <p:nvPr/>
        </p:nvSpPr>
        <p:spPr>
          <a:xfrm>
            <a:off x="7008431" y="1465203"/>
            <a:ext cx="5082044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Which countries contribute the highest amount of content in OTT?</a:t>
            </a: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6BD87C30-616D-20C4-E48D-263B0F2AE9B7}"/>
              </a:ext>
            </a:extLst>
          </p:cNvPr>
          <p:cNvSpPr txBox="1"/>
          <p:nvPr/>
        </p:nvSpPr>
        <p:spPr>
          <a:xfrm>
            <a:off x="7001098" y="5774009"/>
            <a:ext cx="5082044" cy="74353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The United States contributes the highest amount of OTT content (Movies + TV Shows), followed by India.</a:t>
            </a:r>
          </a:p>
        </p:txBody>
      </p:sp>
    </p:spTree>
    <p:extLst>
      <p:ext uri="{BB962C8B-B14F-4D97-AF65-F5344CB8AC3E}">
        <p14:creationId xmlns:p14="http://schemas.microsoft.com/office/powerpoint/2010/main" val="4289166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B1DE5-EA7C-1516-F2A0-714459D1A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68157-1F37-1554-5819-3BFC6447D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81" y="109915"/>
            <a:ext cx="11336694" cy="567999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 : Evaluate OTT Platform Performance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6A9C2F-2FB9-D6FA-6A43-9A3B81F34C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6" t="33650" r="50000" b="9525"/>
          <a:stretch>
            <a:fillRect/>
          </a:stretch>
        </p:blipFill>
        <p:spPr>
          <a:xfrm>
            <a:off x="207529" y="2388542"/>
            <a:ext cx="3655811" cy="222623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11C9C22-6745-0A47-9F78-668A002DD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283"/>
            <a:ext cx="1243692" cy="877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91F0EA-5712-75E9-87CE-164F84567566}"/>
              </a:ext>
            </a:extLst>
          </p:cNvPr>
          <p:cNvSpPr txBox="1"/>
          <p:nvPr/>
        </p:nvSpPr>
        <p:spPr>
          <a:xfrm>
            <a:off x="207529" y="1463321"/>
            <a:ext cx="3655811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Which OTT platform has the largest content library?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DB77E3-D0D0-9B00-7886-8802D201F500}"/>
              </a:ext>
            </a:extLst>
          </p:cNvPr>
          <p:cNvSpPr txBox="1"/>
          <p:nvPr/>
        </p:nvSpPr>
        <p:spPr>
          <a:xfrm>
            <a:off x="4238274" y="1463321"/>
            <a:ext cx="3655811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Which OTT platform is most popular among users?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F2674947-DD0A-9BD3-A15E-0C34FDFB726F}"/>
              </a:ext>
            </a:extLst>
          </p:cNvPr>
          <p:cNvSpPr txBox="1"/>
          <p:nvPr/>
        </p:nvSpPr>
        <p:spPr>
          <a:xfrm>
            <a:off x="207529" y="4960306"/>
            <a:ext cx="3655811" cy="5200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NetStream offers the widest variety of content for viewers.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364FACE7-0B2F-D93B-E61D-220B3E620C28}"/>
              </a:ext>
            </a:extLst>
          </p:cNvPr>
          <p:cNvSpPr txBox="1"/>
          <p:nvPr/>
        </p:nvSpPr>
        <p:spPr>
          <a:xfrm>
            <a:off x="4238274" y="4960306"/>
            <a:ext cx="3655811" cy="5200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Amaze</a:t>
            </a:r>
            <a:r>
              <a:rPr lang="en-IN" sz="13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Prime is most preferred  OTT  platform among users</a:t>
            </a:r>
            <a:endParaRPr lang="en-IN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7A02DE-05F9-E531-47BB-BC7D8885A5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933" t="16939" r="24541" b="13751"/>
          <a:stretch>
            <a:fillRect/>
          </a:stretch>
        </p:blipFill>
        <p:spPr>
          <a:xfrm>
            <a:off x="4238273" y="2388542"/>
            <a:ext cx="3655811" cy="222677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46109B8-A8CB-73EC-192F-CB3DD50C19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276" t="30336" r="22398" b="7789"/>
          <a:stretch>
            <a:fillRect/>
          </a:stretch>
        </p:blipFill>
        <p:spPr>
          <a:xfrm>
            <a:off x="8269021" y="2388542"/>
            <a:ext cx="3785819" cy="2270430"/>
          </a:xfrm>
          <a:prstGeom prst="rect">
            <a:avLst/>
          </a:prstGeom>
        </p:spPr>
      </p:pic>
      <p:sp>
        <p:nvSpPr>
          <p:cNvPr id="18" name="TextBox 7">
            <a:extLst>
              <a:ext uri="{FF2B5EF4-FFF2-40B4-BE49-F238E27FC236}">
                <a16:creationId xmlns:a16="http://schemas.microsoft.com/office/drawing/2014/main" id="{27731095-7750-E89D-C055-1AC11B21E2FA}"/>
              </a:ext>
            </a:extLst>
          </p:cNvPr>
          <p:cNvSpPr txBox="1"/>
          <p:nvPr/>
        </p:nvSpPr>
        <p:spPr>
          <a:xfrm>
            <a:off x="8269019" y="4960306"/>
            <a:ext cx="3785819" cy="7013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 </a:t>
            </a: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of the OTT platform's content is moderately popular (in range</a:t>
            </a:r>
            <a:r>
              <a:rPr lang="en-IN" sz="13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to 10)</a:t>
            </a: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13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indicating </a:t>
            </a:r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balanced</a:t>
            </a:r>
            <a:r>
              <a:rPr lang="en-IN" sz="1300" b="1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mix of content among viewers .</a:t>
            </a:r>
            <a:endParaRPr lang="en-IN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0625D9-11CE-B114-7A8C-FD3458EAC241}"/>
              </a:ext>
            </a:extLst>
          </p:cNvPr>
          <p:cNvSpPr txBox="1"/>
          <p:nvPr/>
        </p:nvSpPr>
        <p:spPr>
          <a:xfrm>
            <a:off x="8269019" y="1453045"/>
            <a:ext cx="3785819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Is most of the OTT content highly popular, moderately popular, or low performing?</a:t>
            </a:r>
          </a:p>
        </p:txBody>
      </p:sp>
    </p:spTree>
    <p:extLst>
      <p:ext uri="{BB962C8B-B14F-4D97-AF65-F5344CB8AC3E}">
        <p14:creationId xmlns:p14="http://schemas.microsoft.com/office/powerpoint/2010/main" val="1615290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DD4AB4-3D4C-F812-2C67-D2E041841FF9}"/>
              </a:ext>
            </a:extLst>
          </p:cNvPr>
          <p:cNvSpPr txBox="1">
            <a:spLocks/>
          </p:cNvSpPr>
          <p:nvPr/>
        </p:nvSpPr>
        <p:spPr>
          <a:xfrm>
            <a:off x="559836" y="87085"/>
            <a:ext cx="11215397" cy="4088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97BBBA-8A57-740E-93C5-F23371DEA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576" y="0"/>
            <a:ext cx="1242824" cy="66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437E10-1B11-E16B-9A36-4078DE18CC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4" t="8642" r="1165" b="11894"/>
          <a:stretch>
            <a:fillRect/>
          </a:stretch>
        </p:blipFill>
        <p:spPr>
          <a:xfrm>
            <a:off x="208581" y="858773"/>
            <a:ext cx="11774837" cy="577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90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2B224-264D-16C4-E226-75E10B8BB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EEDAC-7EB5-E17E-38D3-A2EF19CC5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548067"/>
            <a:ext cx="9905999" cy="35417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4400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2 :-  </a:t>
            </a:r>
            <a:r>
              <a:rPr lang="en-US" sz="4400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Viewing Behaviour </a:t>
            </a:r>
            <a:endParaRPr lang="en-IN" sz="4400" dirty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41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E23B0-3BB4-4640-C17D-45F89AFB1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A74AA-C4D8-3325-5E2F-93F614B0B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81" y="109915"/>
            <a:ext cx="11336694" cy="567999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1: Analyze Viewing Habits Across Audience Groups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1079290-1003-69BF-E79C-EB6F19E52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83"/>
            <a:ext cx="1243692" cy="877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C346A0-E617-90CB-3566-73BE800BBD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69" t="69808" r="72748" b="15809"/>
          <a:stretch>
            <a:fillRect/>
          </a:stretch>
        </p:blipFill>
        <p:spPr>
          <a:xfrm>
            <a:off x="237805" y="2526288"/>
            <a:ext cx="2723236" cy="16206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75B0E5-D168-DE37-F831-9964AE4BB7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159" t="69952" r="58703" b="16590"/>
          <a:stretch>
            <a:fillRect/>
          </a:stretch>
        </p:blipFill>
        <p:spPr>
          <a:xfrm>
            <a:off x="3309821" y="2615382"/>
            <a:ext cx="4595613" cy="153151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ED612D6-C6E9-6B0D-36B2-174DDD7495B2}"/>
              </a:ext>
            </a:extLst>
          </p:cNvPr>
          <p:cNvSpPr txBox="1"/>
          <p:nvPr/>
        </p:nvSpPr>
        <p:spPr>
          <a:xfrm>
            <a:off x="157066" y="1563371"/>
            <a:ext cx="2884714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Which age group spends the most time watching OTT content?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7DF06A-9B77-A48F-4DE6-CF6402FBCDB9}"/>
              </a:ext>
            </a:extLst>
          </p:cNvPr>
          <p:cNvSpPr txBox="1"/>
          <p:nvPr/>
        </p:nvSpPr>
        <p:spPr>
          <a:xfrm>
            <a:off x="3358883" y="1563371"/>
            <a:ext cx="4497491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Which subscription plan has the highest viewing engagement?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6C203D-319F-008A-ED50-76440F9836EA}"/>
              </a:ext>
            </a:extLst>
          </p:cNvPr>
          <p:cNvSpPr txBox="1"/>
          <p:nvPr/>
        </p:nvSpPr>
        <p:spPr>
          <a:xfrm>
            <a:off x="157066" y="4718494"/>
            <a:ext cx="2884714" cy="738664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 </a:t>
            </a:r>
            <a:r>
              <a:rPr lang="en-I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:- 36-50 Age Group spends most time watching OTT content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5C564F-411B-64A6-6B46-BB9AE5B55DE9}"/>
              </a:ext>
            </a:extLst>
          </p:cNvPr>
          <p:cNvSpPr txBox="1"/>
          <p:nvPr/>
        </p:nvSpPr>
        <p:spPr>
          <a:xfrm>
            <a:off x="3358883" y="4721001"/>
            <a:ext cx="4497491" cy="523220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Free Trial users recorded the highest total watch time and viewing sessions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517B95-8E31-8F0A-70C1-0F732567BE77}"/>
              </a:ext>
            </a:extLst>
          </p:cNvPr>
          <p:cNvSpPr txBox="1"/>
          <p:nvPr/>
        </p:nvSpPr>
        <p:spPr>
          <a:xfrm>
            <a:off x="8173478" y="1563371"/>
            <a:ext cx="3861456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Which device is most frequently used for streaming OTT content?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1F57BCB-83EC-4CC8-6D01-4DC98BFFB1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393" t="53097" r="72218" b="31566"/>
          <a:stretch>
            <a:fillRect/>
          </a:stretch>
        </p:blipFill>
        <p:spPr>
          <a:xfrm>
            <a:off x="8440898" y="2499514"/>
            <a:ext cx="3269212" cy="162060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1FE313C-C169-2162-D885-4E571B71C390}"/>
              </a:ext>
            </a:extLst>
          </p:cNvPr>
          <p:cNvSpPr txBox="1"/>
          <p:nvPr/>
        </p:nvSpPr>
        <p:spPr>
          <a:xfrm>
            <a:off x="8173477" y="4718494"/>
            <a:ext cx="3861457" cy="738664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Smart TVs are the most frequently used devices for streaming OTT content.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459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AC710-0037-3C6F-2966-8F26715AA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AF582-AA9A-88F1-259E-A926EFDD7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81" y="109915"/>
            <a:ext cx="11336694" cy="567999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2: Identify Peak Viewing Time Trends &amp; FEEDBACK CATEGORY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D2D775E-E994-DEDF-8334-1B9B28351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83"/>
            <a:ext cx="1243692" cy="8779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4701F98-C6DF-F103-BBB8-06383E285B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163" t="77731" r="68174" b="7287"/>
          <a:stretch>
            <a:fillRect/>
          </a:stretch>
        </p:blipFill>
        <p:spPr>
          <a:xfrm>
            <a:off x="8356530" y="2713292"/>
            <a:ext cx="3642636" cy="163433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74976C8-FD9A-C9DA-BFC4-D22AB8558844}"/>
              </a:ext>
            </a:extLst>
          </p:cNvPr>
          <p:cNvSpPr txBox="1"/>
          <p:nvPr/>
        </p:nvSpPr>
        <p:spPr>
          <a:xfrm>
            <a:off x="8356531" y="1561019"/>
            <a:ext cx="3642635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</a:rPr>
              <a:t>Q. Which time of day has the highest average content completion percentage?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BD547D-4567-F1EE-6DFA-7F42C73BE97C}"/>
              </a:ext>
            </a:extLst>
          </p:cNvPr>
          <p:cNvSpPr txBox="1"/>
          <p:nvPr/>
        </p:nvSpPr>
        <p:spPr>
          <a:xfrm>
            <a:off x="8356530" y="4834634"/>
            <a:ext cx="3642636" cy="738664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</a:rPr>
              <a:t>Interpretation</a:t>
            </a:r>
            <a:r>
              <a:rPr lang="en-IN" sz="1400" b="1" dirty="0">
                <a:solidFill>
                  <a:schemeClr val="bg1"/>
                </a:solidFill>
              </a:rPr>
              <a:t> : Users have the highest average content completion percentage in night , showing the strongest viewing engagement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88D936-8BA2-5427-E830-C57D384B5063}"/>
              </a:ext>
            </a:extLst>
          </p:cNvPr>
          <p:cNvSpPr txBox="1"/>
          <p:nvPr/>
        </p:nvSpPr>
        <p:spPr>
          <a:xfrm>
            <a:off x="4406207" y="1582129"/>
            <a:ext cx="3379586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</a:rPr>
              <a:t>Q. Which region has the highest average watch duration?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A073B5D-DE66-5261-9098-9C2988D7BB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699" t="53098" r="72718" b="32178"/>
          <a:stretch>
            <a:fillRect/>
          </a:stretch>
        </p:blipFill>
        <p:spPr>
          <a:xfrm>
            <a:off x="4406207" y="2655032"/>
            <a:ext cx="3379586" cy="167729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79A9290D-6FCD-C19D-0B3B-C2A402EB1F18}"/>
              </a:ext>
            </a:extLst>
          </p:cNvPr>
          <p:cNvSpPr txBox="1"/>
          <p:nvPr/>
        </p:nvSpPr>
        <p:spPr>
          <a:xfrm>
            <a:off x="4406207" y="4823391"/>
            <a:ext cx="3379586" cy="738664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</a:rPr>
              <a:t>Interpretation</a:t>
            </a:r>
            <a:r>
              <a:rPr lang="en-IN" sz="1400" b="1" dirty="0">
                <a:solidFill>
                  <a:schemeClr val="bg1"/>
                </a:solidFill>
              </a:rPr>
              <a:t> : The East region has the highest average watch duration, indicating the strongest viewer engagement.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77A4D8D-1CED-B204-727F-6EA3C77FBB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164" t="77875" r="69375" b="9981"/>
          <a:stretch>
            <a:fillRect/>
          </a:stretch>
        </p:blipFill>
        <p:spPr>
          <a:xfrm>
            <a:off x="210746" y="2670341"/>
            <a:ext cx="3675689" cy="167729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535853C9-D193-3D8A-F013-FE3AF383ABE9}"/>
              </a:ext>
            </a:extLst>
          </p:cNvPr>
          <p:cNvSpPr txBox="1"/>
          <p:nvPr/>
        </p:nvSpPr>
        <p:spPr>
          <a:xfrm>
            <a:off x="199637" y="4844975"/>
            <a:ext cx="3686797" cy="738664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</a:rPr>
              <a:t>Interpretation</a:t>
            </a:r>
            <a:r>
              <a:rPr lang="en-IN" sz="1400" b="1" dirty="0">
                <a:solidFill>
                  <a:schemeClr val="bg1"/>
                </a:solidFill>
              </a:rPr>
              <a:t> : Positive  is the most feedback common category, indicating overall viewer satisfaction with the OTT platform.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D27056-6BC4-F933-FD0B-8B35200D342E}"/>
              </a:ext>
            </a:extLst>
          </p:cNvPr>
          <p:cNvSpPr txBox="1"/>
          <p:nvPr/>
        </p:nvSpPr>
        <p:spPr>
          <a:xfrm>
            <a:off x="210746" y="1582129"/>
            <a:ext cx="3675690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</a:rPr>
              <a:t>Q. What is the distribution of feedback categories?</a:t>
            </a:r>
          </a:p>
        </p:txBody>
      </p:sp>
    </p:spTree>
    <p:extLst>
      <p:ext uri="{BB962C8B-B14F-4D97-AF65-F5344CB8AC3E}">
        <p14:creationId xmlns:p14="http://schemas.microsoft.com/office/powerpoint/2010/main" val="2026661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CC229-74BB-9F6C-6953-F36348F87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39FBD-F923-8E54-B860-4369CEC92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548067"/>
            <a:ext cx="9905999" cy="35417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4400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3 :- </a:t>
            </a:r>
            <a:r>
              <a:rPr lang="en-US" sz="4400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User Engagement</a:t>
            </a:r>
            <a:endParaRPr lang="en-IN" sz="4400" dirty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450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0EE23-E7AB-DE48-0C28-CE3342CF4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A61A3-63E5-22AF-9520-42C7064CF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624" y="429049"/>
            <a:ext cx="9901849" cy="59436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 : Analyze User Engagement Across Different Segments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4811EF-D5A1-2D3A-03C8-03197CA27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27" y="90457"/>
            <a:ext cx="1805657" cy="127154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7FC22E6-F451-F2EE-393E-727785F50BC9}"/>
              </a:ext>
            </a:extLst>
          </p:cNvPr>
          <p:cNvSpPr/>
          <p:nvPr/>
        </p:nvSpPr>
        <p:spPr>
          <a:xfrm>
            <a:off x="181566" y="1405981"/>
            <a:ext cx="3802605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Which subscription plan has the highest average watch duration?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0A92499-13E6-1532-769B-843D2E3EDA58}"/>
              </a:ext>
            </a:extLst>
          </p:cNvPr>
          <p:cNvSpPr/>
          <p:nvPr/>
        </p:nvSpPr>
        <p:spPr>
          <a:xfrm>
            <a:off x="4337612" y="1405981"/>
            <a:ext cx="3607830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Q. Which subscription plan has the highest average content completion percentage?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60372AB-C2FD-640C-D24B-2AABB97F13ED}"/>
              </a:ext>
            </a:extLst>
          </p:cNvPr>
          <p:cNvSpPr/>
          <p:nvPr/>
        </p:nvSpPr>
        <p:spPr>
          <a:xfrm>
            <a:off x="4337612" y="5900834"/>
            <a:ext cx="3645149" cy="758554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Premium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have the highest average completion percentage of approximately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52.61%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400" b="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187CA24-BE3E-84D1-3645-F6B513D746E8}"/>
              </a:ext>
            </a:extLst>
          </p:cNvPr>
          <p:cNvSpPr/>
          <p:nvPr/>
        </p:nvSpPr>
        <p:spPr>
          <a:xfrm>
            <a:off x="250372" y="5908886"/>
            <a:ext cx="3733799" cy="750502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 Free Trial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have the highest average watch duration of approximately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182.16 minutes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28CA5F-7F80-4E6E-C792-7B6B5E1DEC40}"/>
              </a:ext>
            </a:extLst>
          </p:cNvPr>
          <p:cNvSpPr/>
          <p:nvPr/>
        </p:nvSpPr>
        <p:spPr>
          <a:xfrm>
            <a:off x="8298883" y="1405981"/>
            <a:ext cx="3607830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Which subscription plan receives the highest average user rating?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12EFB99-9FF6-7924-A5BD-E54E32A53F38}"/>
              </a:ext>
            </a:extLst>
          </p:cNvPr>
          <p:cNvSpPr/>
          <p:nvPr/>
        </p:nvSpPr>
        <p:spPr>
          <a:xfrm>
            <a:off x="8336202" y="5908887"/>
            <a:ext cx="3738125" cy="750501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Basic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provide the highest average rating of approximately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3.03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400" b="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432981A-CED5-7FDE-F0DC-81BF11B996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83" t="16734" r="23099" b="25126"/>
          <a:stretch>
            <a:fillRect/>
          </a:stretch>
        </p:blipFill>
        <p:spPr>
          <a:xfrm>
            <a:off x="4337612" y="2697661"/>
            <a:ext cx="3645149" cy="23178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38001A1-E080-6C05-C427-18C69DC7B9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163" t="55834" r="37321"/>
          <a:stretch>
            <a:fillRect/>
          </a:stretch>
        </p:blipFill>
        <p:spPr>
          <a:xfrm>
            <a:off x="8298883" y="2697661"/>
            <a:ext cx="3717381" cy="234244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B1E9176-AB17-F2B8-FEF6-8BCC69EFB2A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918" t="43026" r="18784" b="13625"/>
          <a:stretch>
            <a:fillRect/>
          </a:stretch>
        </p:blipFill>
        <p:spPr>
          <a:xfrm>
            <a:off x="181566" y="2697661"/>
            <a:ext cx="3802605" cy="170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339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3F958-BEF1-6895-39B5-378E5C841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D34F1-98DA-2B7A-7B72-52A5F6636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624" y="429049"/>
            <a:ext cx="9901849" cy="59436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 :- analyze User Viewing Behaviour</a:t>
            </a:r>
            <a:endParaRPr lang="en-IN" sz="2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4D08968-7603-AEBA-C2F6-EC6E8990A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27" y="90457"/>
            <a:ext cx="1805657" cy="127154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4D28DB-0D2B-4EEF-D705-5E2AEC833231}"/>
              </a:ext>
            </a:extLst>
          </p:cNvPr>
          <p:cNvSpPr/>
          <p:nvPr/>
        </p:nvSpPr>
        <p:spPr>
          <a:xfrm>
            <a:off x="376340" y="1405981"/>
            <a:ext cx="3607831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Which user engagement level records the highest average watch duration?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72C7506-11ED-C6BA-C5E7-F65FC18680AF}"/>
              </a:ext>
            </a:extLst>
          </p:cNvPr>
          <p:cNvSpPr/>
          <p:nvPr/>
        </p:nvSpPr>
        <p:spPr>
          <a:xfrm>
            <a:off x="4337612" y="1405981"/>
            <a:ext cx="3607830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Q. Which device type is most preferred by highly engaged users?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8BC0DDB-33A3-A900-593D-493FA98A8C11}"/>
              </a:ext>
            </a:extLst>
          </p:cNvPr>
          <p:cNvSpPr/>
          <p:nvPr/>
        </p:nvSpPr>
        <p:spPr>
          <a:xfrm>
            <a:off x="4337612" y="5889524"/>
            <a:ext cx="3672016" cy="700551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Mobile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preferred device with approximately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167 users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400" b="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EEFC8E2-C1E4-EFE8-4CA8-124C3320D755}"/>
              </a:ext>
            </a:extLst>
          </p:cNvPr>
          <p:cNvSpPr/>
          <p:nvPr/>
        </p:nvSpPr>
        <p:spPr>
          <a:xfrm>
            <a:off x="330973" y="5889524"/>
            <a:ext cx="3607831" cy="717880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East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region records the highest average watch duration of approximately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184.53 minutes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6B300AD-95B2-CD0D-F0DF-7B51B73C9190}"/>
              </a:ext>
            </a:extLst>
          </p:cNvPr>
          <p:cNvSpPr/>
          <p:nvPr/>
        </p:nvSpPr>
        <p:spPr>
          <a:xfrm>
            <a:off x="8298883" y="1405981"/>
            <a:ext cx="3607830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Which time of day records the highest average watch duration?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BE98C14-16A8-AC7C-77CD-2CFDF6312F94}"/>
              </a:ext>
            </a:extLst>
          </p:cNvPr>
          <p:cNvSpPr/>
          <p:nvPr/>
        </p:nvSpPr>
        <p:spPr>
          <a:xfrm>
            <a:off x="8408435" y="5876196"/>
            <a:ext cx="3672015" cy="717880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Female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record the highest average watch duration of approximately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182.50 minutes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400" b="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29AE60-DC0D-4D67-5EFC-5B572464B1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76" t="40276" r="42887" b="10105"/>
          <a:stretch>
            <a:fillRect/>
          </a:stretch>
        </p:blipFill>
        <p:spPr>
          <a:xfrm>
            <a:off x="313356" y="2738356"/>
            <a:ext cx="3670816" cy="22369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EE6109-FA12-89D9-2D9F-739934C95D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69" t="34171" r="44285" b="14058"/>
          <a:stretch>
            <a:fillRect/>
          </a:stretch>
        </p:blipFill>
        <p:spPr>
          <a:xfrm>
            <a:off x="4306720" y="2738356"/>
            <a:ext cx="3733800" cy="22369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2C00F77-9099-5028-392B-BB9E5F58AB3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982" t="45895" r="47270" b="2245"/>
          <a:stretch>
            <a:fillRect/>
          </a:stretch>
        </p:blipFill>
        <p:spPr>
          <a:xfrm>
            <a:off x="8300205" y="2738356"/>
            <a:ext cx="3749654" cy="22369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89F708-A74F-E8EB-1690-316887A2617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107" t="26879" r="25306" b="10104"/>
          <a:stretch>
            <a:fillRect/>
          </a:stretch>
        </p:blipFill>
        <p:spPr>
          <a:xfrm>
            <a:off x="8298884" y="2738356"/>
            <a:ext cx="3750976" cy="223692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4CFB731-8544-B507-D49D-4EFE2471E70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4803" t="39337" r="27602" b="7863"/>
          <a:stretch>
            <a:fillRect/>
          </a:stretch>
        </p:blipFill>
        <p:spPr>
          <a:xfrm>
            <a:off x="4242537" y="2738356"/>
            <a:ext cx="3797984" cy="223692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BBFD9B2-6EBC-CFA5-FCF3-BA90F957D4F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7347" t="31488" r="46046" b="8872"/>
          <a:stretch>
            <a:fillRect/>
          </a:stretch>
        </p:blipFill>
        <p:spPr>
          <a:xfrm>
            <a:off x="292877" y="2643830"/>
            <a:ext cx="3733800" cy="24259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8AF8227-9113-BC2A-1753-AEF6A1C82B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8883" y="2738356"/>
            <a:ext cx="3749365" cy="223742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2C85511-7BFD-9C4B-B6D7-1593625902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94194" y="2737854"/>
            <a:ext cx="3737172" cy="223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179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6CC9E-C0E8-DE13-841C-6505E15E0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4AA01-FD02-2FC6-B098-351CF3AAD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780" y="337665"/>
            <a:ext cx="10950693" cy="500897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4 :-  </a:t>
            </a:r>
            <a:r>
              <a:rPr lang="en-US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User Ratings and Preferences</a:t>
            </a:r>
            <a:endParaRPr lang="en-IN" sz="2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4A666F-4F25-F489-AFFC-86CB6EDD4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2" y="93056"/>
            <a:ext cx="1461535" cy="1029216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383DCF7-A5AE-FC43-82F5-090E262BED54}"/>
              </a:ext>
            </a:extLst>
          </p:cNvPr>
          <p:cNvSpPr/>
          <p:nvPr/>
        </p:nvSpPr>
        <p:spPr>
          <a:xfrm>
            <a:off x="376340" y="1405981"/>
            <a:ext cx="3607831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Which content receives the highest average rating?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3052FA-A6E2-AF80-ACA4-6810DFD5DB36}"/>
              </a:ext>
            </a:extLst>
          </p:cNvPr>
          <p:cNvSpPr/>
          <p:nvPr/>
        </p:nvSpPr>
        <p:spPr>
          <a:xfrm>
            <a:off x="250372" y="5899357"/>
            <a:ext cx="3607831" cy="712048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Content ID C00017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receives the highest average rating of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5.0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7EC067-05B7-3302-7AA3-2F260F38E0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17" t="31200" r="55229" b="3683"/>
          <a:stretch>
            <a:fillRect/>
          </a:stretch>
        </p:blipFill>
        <p:spPr>
          <a:xfrm>
            <a:off x="346948" y="2378249"/>
            <a:ext cx="3544848" cy="3197459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E295D83-B9D0-00A8-418B-B748A72AC2B2}"/>
              </a:ext>
            </a:extLst>
          </p:cNvPr>
          <p:cNvSpPr/>
          <p:nvPr/>
        </p:nvSpPr>
        <p:spPr>
          <a:xfrm>
            <a:off x="4419653" y="1405981"/>
            <a:ext cx="3481863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Which age group provides the highest rating?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8EBCC5E-1BA4-C552-AF05-EA3A66E0F779}"/>
              </a:ext>
            </a:extLst>
          </p:cNvPr>
          <p:cNvSpPr/>
          <p:nvPr/>
        </p:nvSpPr>
        <p:spPr>
          <a:xfrm>
            <a:off x="8336998" y="1405981"/>
            <a:ext cx="3478662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Q. Which region provides the highest ratings?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B9A98E6-D661-D122-BFCE-F3F0D018FF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53" t="40708" r="46506"/>
          <a:stretch>
            <a:fillRect/>
          </a:stretch>
        </p:blipFill>
        <p:spPr>
          <a:xfrm>
            <a:off x="4419653" y="2452596"/>
            <a:ext cx="3481862" cy="3123111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D5719B1-A8DC-E8F5-976F-91056DCCB157}"/>
              </a:ext>
            </a:extLst>
          </p:cNvPr>
          <p:cNvSpPr/>
          <p:nvPr/>
        </p:nvSpPr>
        <p:spPr>
          <a:xfrm>
            <a:off x="4356668" y="5899356"/>
            <a:ext cx="3607831" cy="712048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18–25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 group provides the highest average rating of approximately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3.02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77525C9-4668-DAC0-F595-77EDC43392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587" t="36703" r="41531" b="866"/>
          <a:stretch>
            <a:fillRect/>
          </a:stretch>
        </p:blipFill>
        <p:spPr>
          <a:xfrm>
            <a:off x="8336998" y="2567763"/>
            <a:ext cx="3508053" cy="2884256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DFF5559-B089-9A3B-6D1D-2876DD49D279}"/>
              </a:ext>
            </a:extLst>
          </p:cNvPr>
          <p:cNvSpPr/>
          <p:nvPr/>
        </p:nvSpPr>
        <p:spPr>
          <a:xfrm>
            <a:off x="8333799" y="5899356"/>
            <a:ext cx="3525409" cy="712048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region provides the highest average rating of approximately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3.05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400" b="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448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65CFB-FDDE-91EA-A273-249579802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D515D-36DB-9612-04F4-CABDD906B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548067"/>
            <a:ext cx="9905999" cy="35417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4400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4 :- </a:t>
            </a:r>
            <a:r>
              <a:rPr lang="en-US" sz="4400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User Engagement</a:t>
            </a:r>
            <a:endParaRPr lang="en-IN" sz="4400" dirty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296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A394E-F1BE-426A-224D-2CC66E63A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113B-4FD9-617C-17D0-3E8758EA1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30" y="112207"/>
            <a:ext cx="11118644" cy="59436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1: Analyze User Ratings and Reviews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1AC9714-8460-528B-33FD-00F1EFF1B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1632" y="0"/>
            <a:ext cx="1368787" cy="9144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93CCA21-C8DB-664A-ED84-0FFB2BA8AD4A}"/>
              </a:ext>
            </a:extLst>
          </p:cNvPr>
          <p:cNvSpPr/>
          <p:nvPr/>
        </p:nvSpPr>
        <p:spPr>
          <a:xfrm>
            <a:off x="175727" y="1022628"/>
            <a:ext cx="3939072" cy="59436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age group gives the highest average rating?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686562-44EB-D95F-6CF4-4249BD643929}"/>
              </a:ext>
            </a:extLst>
          </p:cNvPr>
          <p:cNvSpPr/>
          <p:nvPr/>
        </p:nvSpPr>
        <p:spPr>
          <a:xfrm>
            <a:off x="4335363" y="1022627"/>
            <a:ext cx="3623579" cy="59436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Q.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region has the highest average customer rating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IN" sz="1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041FD85-8D3B-C8BC-CDE5-A4E8C71A2AA4}"/>
              </a:ext>
            </a:extLst>
          </p:cNvPr>
          <p:cNvSpPr/>
          <p:nvPr/>
        </p:nvSpPr>
        <p:spPr>
          <a:xfrm>
            <a:off x="175725" y="5943600"/>
            <a:ext cx="3939073" cy="698933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18–25 age group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highest average rating (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3.02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33A75E1-08D8-FEB2-4BE6-89E8E401473D}"/>
              </a:ext>
            </a:extLst>
          </p:cNvPr>
          <p:cNvSpPr/>
          <p:nvPr/>
        </p:nvSpPr>
        <p:spPr>
          <a:xfrm>
            <a:off x="4264174" y="5943600"/>
            <a:ext cx="3794116" cy="703760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 region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highest average rating (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3.05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IN" sz="1400" b="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D74301F-DC4A-5FBF-2FA0-CCBD182833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81" t="23938" r="26822" b="3542"/>
          <a:stretch>
            <a:fillRect/>
          </a:stretch>
        </p:blipFill>
        <p:spPr>
          <a:xfrm>
            <a:off x="175726" y="1985176"/>
            <a:ext cx="3939073" cy="34265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45F35C4-B83F-4B6C-A8A9-1CC55DB7D5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41" t="32930" r="32271" b="-1"/>
          <a:stretch>
            <a:fillRect/>
          </a:stretch>
        </p:blipFill>
        <p:spPr>
          <a:xfrm>
            <a:off x="4236014" y="1985176"/>
            <a:ext cx="3822276" cy="342658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D5B0559-B37F-9DDC-B526-255F11DA91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571" t="36654" r="47942" b="1134"/>
          <a:stretch>
            <a:fillRect/>
          </a:stretch>
        </p:blipFill>
        <p:spPr>
          <a:xfrm>
            <a:off x="8179505" y="1975956"/>
            <a:ext cx="3900780" cy="3426581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BFF2AF0-0D21-BDD3-0E01-6E95C06CDDEC}"/>
              </a:ext>
            </a:extLst>
          </p:cNvPr>
          <p:cNvSpPr/>
          <p:nvPr/>
        </p:nvSpPr>
        <p:spPr>
          <a:xfrm>
            <a:off x="8179505" y="1044083"/>
            <a:ext cx="3936295" cy="59436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Which subscription plan receives the highest average rating?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D4A14DB-A2B4-F9D7-B7B1-ADDD48B005FF}"/>
              </a:ext>
            </a:extLst>
          </p:cNvPr>
          <p:cNvSpPr/>
          <p:nvPr/>
        </p:nvSpPr>
        <p:spPr>
          <a:xfrm>
            <a:off x="8235826" y="5943599"/>
            <a:ext cx="3844459" cy="741243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subscription plan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highest average rating (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3.03)</a:t>
            </a:r>
            <a:endParaRPr lang="en-IN" sz="1400" b="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354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F12E8-16B8-97F6-01FE-D7EBC7C5B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245A4-EA2F-06FA-4F57-A381B1F12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054" y="120390"/>
            <a:ext cx="10745420" cy="445527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2: Evaluate Content Completion Behaviour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87EE375-5754-4133-920E-0FD70CA37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72" y="16194"/>
            <a:ext cx="1389926" cy="737118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FCB6EBD-7917-B16A-0C03-C5520289904C}"/>
              </a:ext>
            </a:extLst>
          </p:cNvPr>
          <p:cNvSpPr/>
          <p:nvPr/>
        </p:nvSpPr>
        <p:spPr>
          <a:xfrm>
            <a:off x="143692" y="1153714"/>
            <a:ext cx="3768099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subscription plan has the highest average content completion percentage?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C88D4D-DA43-6C80-8CB4-812D742036AA}"/>
              </a:ext>
            </a:extLst>
          </p:cNvPr>
          <p:cNvSpPr/>
          <p:nvPr/>
        </p:nvSpPr>
        <p:spPr>
          <a:xfrm>
            <a:off x="143692" y="5899142"/>
            <a:ext cx="3768099" cy="838467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18–25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 group provides the highest average rating of approximately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3.02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FA66866-3259-21FC-461F-6C68322B45BF}"/>
              </a:ext>
            </a:extLst>
          </p:cNvPr>
          <p:cNvSpPr/>
          <p:nvPr/>
        </p:nvSpPr>
        <p:spPr>
          <a:xfrm>
            <a:off x="4060915" y="1153714"/>
            <a:ext cx="4070169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Q. </a:t>
            </a:r>
            <a:r>
              <a:rPr lang="en-IN" sz="1400" b="1" dirty="0"/>
              <a:t>Which age group has the highest average content completion percentage?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684192-B707-3403-412A-0AFD52167FD2}"/>
              </a:ext>
            </a:extLst>
          </p:cNvPr>
          <p:cNvSpPr/>
          <p:nvPr/>
        </p:nvSpPr>
        <p:spPr>
          <a:xfrm>
            <a:off x="4060915" y="5899142"/>
            <a:ext cx="4070169" cy="838467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36–50 age group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highest average completion percentage (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52.60%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endParaRPr lang="en-IN" sz="1400" b="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B1C880-1A2F-8FE1-1A1F-5A6798EE48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13" t="18089" r="38852" b="-1"/>
          <a:stretch>
            <a:fillRect/>
          </a:stretch>
        </p:blipFill>
        <p:spPr>
          <a:xfrm>
            <a:off x="143692" y="2320840"/>
            <a:ext cx="3768099" cy="30055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DA37D7C-CEB3-7A2B-17EE-76F76AD669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21" t="14404" r="29515" b="1029"/>
          <a:stretch>
            <a:fillRect/>
          </a:stretch>
        </p:blipFill>
        <p:spPr>
          <a:xfrm>
            <a:off x="4060915" y="2320840"/>
            <a:ext cx="4070169" cy="30055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95BE454-623B-D760-DE55-D2D7385032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334" t="15586" r="16888" b="-359"/>
          <a:stretch>
            <a:fillRect/>
          </a:stretch>
        </p:blipFill>
        <p:spPr>
          <a:xfrm>
            <a:off x="8280208" y="2320841"/>
            <a:ext cx="3768100" cy="3005539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E3990FE-A869-A418-6AAF-C30B04DE800E}"/>
              </a:ext>
            </a:extLst>
          </p:cNvPr>
          <p:cNvSpPr/>
          <p:nvPr/>
        </p:nvSpPr>
        <p:spPr>
          <a:xfrm>
            <a:off x="8280208" y="1146197"/>
            <a:ext cx="3768100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Q. </a:t>
            </a:r>
            <a:r>
              <a:rPr lang="en-IN" sz="1400" b="1" dirty="0"/>
              <a:t>Which device type has the highest average content completion percentage?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C05E737-AAFD-D2F0-2A90-924F8134BD11}"/>
              </a:ext>
            </a:extLst>
          </p:cNvPr>
          <p:cNvSpPr/>
          <p:nvPr/>
        </p:nvSpPr>
        <p:spPr>
          <a:xfrm>
            <a:off x="8280209" y="5906661"/>
            <a:ext cx="3768100" cy="830949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device has the highest average completion percentage, </a:t>
            </a:r>
            <a:endParaRPr lang="en-IN" sz="1400" b="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634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78F43-8E64-5A8A-2A3E-3FA5D55DD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37099-5351-58B8-9382-1F9395CC7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127" y="120390"/>
            <a:ext cx="10997347" cy="445527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3: Identify Overall Viewing Behaviour Patterns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9FF9BF-01D1-952F-1F0D-ECF6A58D9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530" y="-31018"/>
            <a:ext cx="1389926" cy="863786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C073EFF-B638-15AE-3777-BD09A0006378}"/>
              </a:ext>
            </a:extLst>
          </p:cNvPr>
          <p:cNvSpPr/>
          <p:nvPr/>
        </p:nvSpPr>
        <p:spPr>
          <a:xfrm>
            <a:off x="93306" y="1243226"/>
            <a:ext cx="3655734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region has the highest average watch duration?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0AEDA9E-893B-14D9-173B-5C3D4ECA188D}"/>
              </a:ext>
            </a:extLst>
          </p:cNvPr>
          <p:cNvSpPr/>
          <p:nvPr/>
        </p:nvSpPr>
        <p:spPr>
          <a:xfrm>
            <a:off x="93306" y="5979410"/>
            <a:ext cx="3655734" cy="758200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East region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highest average watch duration (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184.53 min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endParaRPr lang="en-IN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27311AC-E029-CE45-1DE7-8EE8D2FF42AE}"/>
              </a:ext>
            </a:extLst>
          </p:cNvPr>
          <p:cNvSpPr/>
          <p:nvPr/>
        </p:nvSpPr>
        <p:spPr>
          <a:xfrm>
            <a:off x="3954780" y="1252015"/>
            <a:ext cx="3861475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Q. </a:t>
            </a:r>
            <a:r>
              <a:rPr lang="en-IN" sz="1400" b="1" dirty="0"/>
              <a:t>Which device type has the highest average watch duration</a:t>
            </a:r>
            <a:r>
              <a:rPr lang="en-IN" sz="1200" b="1" dirty="0"/>
              <a:t>?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C83E22D-5015-197A-9FAE-36EF13C84732}"/>
              </a:ext>
            </a:extLst>
          </p:cNvPr>
          <p:cNvSpPr/>
          <p:nvPr/>
        </p:nvSpPr>
        <p:spPr>
          <a:xfrm>
            <a:off x="3954780" y="5979410"/>
            <a:ext cx="3861475" cy="758200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device has the highest average watch duration (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182.90 minutes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endParaRPr lang="en-IN" sz="1400" b="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7D7F6F-A2F3-AF6D-B5B3-9F4C91168D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865" t="33938" r="37185" b="-1083"/>
          <a:stretch>
            <a:fillRect/>
          </a:stretch>
        </p:blipFill>
        <p:spPr>
          <a:xfrm>
            <a:off x="93306" y="2369820"/>
            <a:ext cx="3655734" cy="30773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809807A-9AD4-3D52-4C02-99B4D01C5B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795" t="25280" r="30815" b="3254"/>
          <a:stretch>
            <a:fillRect/>
          </a:stretch>
        </p:blipFill>
        <p:spPr>
          <a:xfrm>
            <a:off x="3954780" y="2369820"/>
            <a:ext cx="3861475" cy="30202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17EFE9-5EDC-9AC3-32D5-0E7BAFC69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091" t="25581" r="30051" b="2966"/>
          <a:stretch>
            <a:fillRect/>
          </a:stretch>
        </p:blipFill>
        <p:spPr>
          <a:xfrm>
            <a:off x="8021995" y="2369820"/>
            <a:ext cx="4076699" cy="3020246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AC68500-302A-9308-8BCE-6682DA9CE2DA}"/>
              </a:ext>
            </a:extLst>
          </p:cNvPr>
          <p:cNvSpPr/>
          <p:nvPr/>
        </p:nvSpPr>
        <p:spPr>
          <a:xfrm>
            <a:off x="7949215" y="1252016"/>
            <a:ext cx="4149479" cy="58557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Q. </a:t>
            </a:r>
            <a:r>
              <a:rPr lang="en-IN" sz="1400" b="1" dirty="0"/>
              <a:t>Which time of day has the highest average watch duration?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E8E8F55-3CB5-45E8-F13F-E6FFDD1C1CB4}"/>
              </a:ext>
            </a:extLst>
          </p:cNvPr>
          <p:cNvSpPr/>
          <p:nvPr/>
        </p:nvSpPr>
        <p:spPr>
          <a:xfrm>
            <a:off x="8021995" y="5979410"/>
            <a:ext cx="4076699" cy="758200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</a:rPr>
              <a:t>Interpretation</a:t>
            </a:r>
            <a:r>
              <a:rPr lang="en-IN" sz="1400" b="1" dirty="0"/>
              <a:t> :- </a:t>
            </a:r>
            <a:r>
              <a:rPr lang="en-IN" sz="1400" dirty="0"/>
              <a:t>The </a:t>
            </a:r>
            <a:r>
              <a:rPr lang="en-IN" sz="1400" b="1" dirty="0"/>
              <a:t>Night</a:t>
            </a:r>
            <a:r>
              <a:rPr lang="en-IN" sz="1400" dirty="0"/>
              <a:t> time period has the highest average watch duration (</a:t>
            </a:r>
            <a:r>
              <a:rPr lang="en-IN" sz="1400" b="1" dirty="0"/>
              <a:t>190.54 minutes</a:t>
            </a:r>
            <a:r>
              <a:rPr lang="en-IN" sz="1400" dirty="0"/>
              <a:t>), </a:t>
            </a:r>
            <a:endParaRPr lang="en-IN" sz="14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2332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D7215-A099-D278-C257-C9F3DE32D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3F579-C9D3-BD9A-7FA2-69AEE91C9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548067"/>
            <a:ext cx="9905999" cy="35417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4400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5 :- </a:t>
            </a:r>
            <a:r>
              <a:rPr lang="en-US" sz="4400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 Business Insights</a:t>
            </a:r>
            <a:endParaRPr lang="en-IN" sz="4400" dirty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029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E60D9-52E8-6114-BAEF-C077C25D7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8DFE4-C5F6-0563-00C8-C899AB43A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942" y="291955"/>
            <a:ext cx="10894340" cy="59436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1: Analyze User Engagement Insights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DF78DFC-82D8-8907-578D-18B98BA88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926" y="60531"/>
            <a:ext cx="1501287" cy="1057209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8ECD96-B0A2-528D-5899-C6679DDA786B}"/>
              </a:ext>
            </a:extLst>
          </p:cNvPr>
          <p:cNvSpPr/>
          <p:nvPr/>
        </p:nvSpPr>
        <p:spPr>
          <a:xfrm>
            <a:off x="104337" y="1410102"/>
            <a:ext cx="3848733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subscription plan has the highest average watch duration?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8E8890B-78EA-4647-B870-E66D227C9B33}"/>
              </a:ext>
            </a:extLst>
          </p:cNvPr>
          <p:cNvSpPr/>
          <p:nvPr/>
        </p:nvSpPr>
        <p:spPr>
          <a:xfrm>
            <a:off x="4244229" y="1421579"/>
            <a:ext cx="3703543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Q.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device type is most preferred by users?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D007399-8785-779E-3C29-4C10C88A5798}"/>
              </a:ext>
            </a:extLst>
          </p:cNvPr>
          <p:cNvSpPr/>
          <p:nvPr/>
        </p:nvSpPr>
        <p:spPr>
          <a:xfrm>
            <a:off x="4244229" y="5879692"/>
            <a:ext cx="3703542" cy="714382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Smart TV is the most preferred streaming device among users.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E667F33-B5F2-BF8C-EED1-363985F88F40}"/>
              </a:ext>
            </a:extLst>
          </p:cNvPr>
          <p:cNvSpPr/>
          <p:nvPr/>
        </p:nvSpPr>
        <p:spPr>
          <a:xfrm>
            <a:off x="104337" y="5879691"/>
            <a:ext cx="3848734" cy="723047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Free Trial users record the highest  watch duration among all subscription plans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70724DE-F14D-AE6D-71D4-D08E07EAC653}"/>
              </a:ext>
            </a:extLst>
          </p:cNvPr>
          <p:cNvSpPr/>
          <p:nvPr/>
        </p:nvSpPr>
        <p:spPr>
          <a:xfrm>
            <a:off x="8238931" y="1405980"/>
            <a:ext cx="3628060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are users distributed across different age groups?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0449698-ECF6-B6FE-7D01-6DF50917DDD2}"/>
              </a:ext>
            </a:extLst>
          </p:cNvPr>
          <p:cNvSpPr/>
          <p:nvPr/>
        </p:nvSpPr>
        <p:spPr>
          <a:xfrm>
            <a:off x="8327579" y="5879691"/>
            <a:ext cx="3783556" cy="723048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User distribution is nearly balanced across all age groups with 50+ age group being highest </a:t>
            </a:r>
            <a:endParaRPr lang="en-IN" sz="1400" b="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C2D4B3-CB19-985C-4C8E-F395774963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87" t="16794" r="48571" b="12905"/>
          <a:stretch>
            <a:fillRect/>
          </a:stretch>
        </p:blipFill>
        <p:spPr>
          <a:xfrm>
            <a:off x="153956" y="2457674"/>
            <a:ext cx="3799114" cy="31020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A22DD6E-09D3-86EC-808B-EE4118E2B3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878" t="16075" r="43699" b="15066"/>
          <a:stretch>
            <a:fillRect/>
          </a:stretch>
        </p:blipFill>
        <p:spPr>
          <a:xfrm>
            <a:off x="4244229" y="2456269"/>
            <a:ext cx="3703543" cy="310203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B07AFDB-8685-5B39-3458-D0E7C233DB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939" t="17104" r="28674" b="18830"/>
          <a:stretch>
            <a:fillRect/>
          </a:stretch>
        </p:blipFill>
        <p:spPr>
          <a:xfrm>
            <a:off x="8238931" y="2457675"/>
            <a:ext cx="3872204" cy="310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263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280E2-5A93-6C66-053D-82F2DAB38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35AA7-1E92-60BE-4F67-0685EC97E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103" y="311114"/>
            <a:ext cx="10950693" cy="59436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2: Analyze Viewing Behavior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58DB54-2CC4-D30E-B5C4-0C0ED84CC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9624" y="7924"/>
            <a:ext cx="1609925" cy="1133712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208ED4B-B980-059B-AFDC-5A5ACC10C334}"/>
              </a:ext>
            </a:extLst>
          </p:cNvPr>
          <p:cNvSpPr/>
          <p:nvPr/>
        </p:nvSpPr>
        <p:spPr>
          <a:xfrm>
            <a:off x="485526" y="1419013"/>
            <a:ext cx="5116739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region records the highest average watch duration?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489B0D2-9DAA-06CF-AA8B-FE8430BF3681}"/>
              </a:ext>
            </a:extLst>
          </p:cNvPr>
          <p:cNvSpPr/>
          <p:nvPr/>
        </p:nvSpPr>
        <p:spPr>
          <a:xfrm>
            <a:off x="6268450" y="1419013"/>
            <a:ext cx="5646742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Q.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viewing completion trends vary across different times of the day?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EE468E3-D29B-5BB9-30B4-C4553186DDAD}"/>
              </a:ext>
            </a:extLst>
          </p:cNvPr>
          <p:cNvSpPr/>
          <p:nvPr/>
        </p:nvSpPr>
        <p:spPr>
          <a:xfrm>
            <a:off x="6268449" y="6140432"/>
            <a:ext cx="5646743" cy="577035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Average completion percentage is highest at night and gradually decreases during the day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400" b="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51743D-5487-2B0E-392E-80633192A425}"/>
              </a:ext>
            </a:extLst>
          </p:cNvPr>
          <p:cNvSpPr/>
          <p:nvPr/>
        </p:nvSpPr>
        <p:spPr>
          <a:xfrm>
            <a:off x="485526" y="6131769"/>
            <a:ext cx="5116739" cy="594363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East region demonstrate highest average watch duration 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6B51BD-D8B7-DE43-D32C-3C132E4601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45" t="20828" r="46199" b="15498"/>
          <a:stretch>
            <a:fillRect/>
          </a:stretch>
        </p:blipFill>
        <p:spPr>
          <a:xfrm>
            <a:off x="485527" y="2326156"/>
            <a:ext cx="5116739" cy="35282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BA9EA76-6FA5-DDA5-5C87-9493F176B8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75" t="19366" r="31352" b="11320"/>
          <a:stretch>
            <a:fillRect/>
          </a:stretch>
        </p:blipFill>
        <p:spPr>
          <a:xfrm>
            <a:off x="6354147" y="2326157"/>
            <a:ext cx="5561045" cy="352823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54F476F-717C-D3A7-EE5E-464BF7FE57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45" t="18966" r="29975" b="12554"/>
          <a:stretch>
            <a:fillRect/>
          </a:stretch>
        </p:blipFill>
        <p:spPr>
          <a:xfrm>
            <a:off x="6268449" y="2326156"/>
            <a:ext cx="5646742" cy="3528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2477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5EEC5-9B3C-79BD-E04D-37DFBD672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FAA09-6E01-AE2B-DDBB-C947D1FDB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737" y="442141"/>
            <a:ext cx="10996826" cy="5943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3: Analyze Content Performance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C1F4591-3917-754B-538D-9FE7CEA96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1631" y="170579"/>
            <a:ext cx="1460486" cy="102847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DBCAE47-8331-BEB1-DE6F-BD8F1DC57FE6}"/>
              </a:ext>
            </a:extLst>
          </p:cNvPr>
          <p:cNvSpPr/>
          <p:nvPr/>
        </p:nvSpPr>
        <p:spPr>
          <a:xfrm>
            <a:off x="261594" y="1457457"/>
            <a:ext cx="3881198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genre contains the highest number of content titles?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FC6AD14-7847-A45D-D430-9B0257CB2C13}"/>
              </a:ext>
            </a:extLst>
          </p:cNvPr>
          <p:cNvSpPr/>
          <p:nvPr/>
        </p:nvSpPr>
        <p:spPr>
          <a:xfrm>
            <a:off x="4348065" y="1434493"/>
            <a:ext cx="3769568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Q.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content type receives the highest average user rating?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B20D3B0-0BBE-F93F-FF3C-3BDD441A280C}"/>
              </a:ext>
            </a:extLst>
          </p:cNvPr>
          <p:cNvSpPr/>
          <p:nvPr/>
        </p:nvSpPr>
        <p:spPr>
          <a:xfrm>
            <a:off x="261593" y="5980544"/>
            <a:ext cx="3881199" cy="637748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‘Drama’ movies contributes the highest number of available contents</a:t>
            </a:r>
            <a:endParaRPr lang="en-IN" sz="1400" b="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E7107D7-2400-055D-441A-EE1B3F97317D}"/>
              </a:ext>
            </a:extLst>
          </p:cNvPr>
          <p:cNvSpPr/>
          <p:nvPr/>
        </p:nvSpPr>
        <p:spPr>
          <a:xfrm>
            <a:off x="4348065" y="5980544"/>
            <a:ext cx="3769568" cy="637748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 TV Shows receives higher average user  ratings (3.06) than Movies (2.99) in OTT</a:t>
            </a:r>
            <a:endParaRPr lang="en-IN" sz="1400" b="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8EA65F9-9699-994B-B000-26CA06A015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98" t="21117" r="36336" b="16363"/>
          <a:stretch>
            <a:fillRect/>
          </a:stretch>
        </p:blipFill>
        <p:spPr>
          <a:xfrm>
            <a:off x="261593" y="2470727"/>
            <a:ext cx="3881199" cy="29764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6F8C9A7-9824-570A-D677-4EFF2FF483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724" t="20973" r="38010" b="12617"/>
          <a:stretch>
            <a:fillRect/>
          </a:stretch>
        </p:blipFill>
        <p:spPr>
          <a:xfrm>
            <a:off x="4348065" y="2470727"/>
            <a:ext cx="3769568" cy="29764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EAA421B-8F0E-2DED-767C-3DFB445199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057" t="24429" r="38621" b="18196"/>
          <a:stretch>
            <a:fillRect/>
          </a:stretch>
        </p:blipFill>
        <p:spPr>
          <a:xfrm>
            <a:off x="8322906" y="2470727"/>
            <a:ext cx="3769568" cy="2976460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AE412CD-886B-324E-10CB-1F0DFD8A8529}"/>
              </a:ext>
            </a:extLst>
          </p:cNvPr>
          <p:cNvSpPr/>
          <p:nvPr/>
        </p:nvSpPr>
        <p:spPr>
          <a:xfrm>
            <a:off x="8322906" y="5980544"/>
            <a:ext cx="3769568" cy="594363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Premium subscription users exhibit the strongest overall user engagement </a:t>
            </a:r>
            <a:endParaRPr lang="en-IN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B9088E7-1EA0-B976-20D3-40396CBAC72C}"/>
              </a:ext>
            </a:extLst>
          </p:cNvPr>
          <p:cNvSpPr/>
          <p:nvPr/>
        </p:nvSpPr>
        <p:spPr>
          <a:xfrm>
            <a:off x="8322906" y="1410813"/>
            <a:ext cx="3769568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subscription plan demonstrates the best overall user engagement?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9432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A4431-0ED9-0069-1BCA-EB8407A19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BF40F2D-9FA6-985F-7DB1-69821BB67373}"/>
              </a:ext>
            </a:extLst>
          </p:cNvPr>
          <p:cNvSpPr txBox="1">
            <a:spLocks/>
          </p:cNvSpPr>
          <p:nvPr/>
        </p:nvSpPr>
        <p:spPr>
          <a:xfrm>
            <a:off x="559836" y="89216"/>
            <a:ext cx="11498426" cy="4348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E30193-E88D-B847-6E50-AC123FCA4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576" y="-70590"/>
            <a:ext cx="1242824" cy="7544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129A1A-22AA-FDA0-8311-1CC5958CAE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45" t="13914" r="14897" b="7419"/>
          <a:stretch>
            <a:fillRect/>
          </a:stretch>
        </p:blipFill>
        <p:spPr>
          <a:xfrm>
            <a:off x="283805" y="754434"/>
            <a:ext cx="11624389" cy="60256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DA1AA2-BAF0-180B-1D88-FD6000CDAD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10" t="11175" r="16531" b="1385"/>
          <a:stretch>
            <a:fillRect/>
          </a:stretch>
        </p:blipFill>
        <p:spPr>
          <a:xfrm>
            <a:off x="283805" y="683843"/>
            <a:ext cx="11624389" cy="609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9915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08C9C-A62B-FA66-C53C-8C9E5BBA0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81849-3B0A-1FAA-1AA9-8D049FD02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604051"/>
            <a:ext cx="9905999" cy="35417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4400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6 :- Support Business Decisions</a:t>
            </a:r>
            <a:r>
              <a:rPr lang="en-IN" sz="44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400" dirty="0">
              <a:solidFill>
                <a:schemeClr val="accent3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7352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3F49D-53E0-5FAE-6FB8-2FD060394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5522C-5939-B30B-5098-3EDAAAF90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942" y="291955"/>
            <a:ext cx="10894340" cy="59436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1: Predict Future User Retention Trends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6FAB066-6AEC-BE7F-0081-D9766B678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5926" y="60531"/>
            <a:ext cx="1501287" cy="1057209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83B832E-ADFE-A5F6-4A87-0BC3A6DFE8C6}"/>
              </a:ext>
            </a:extLst>
          </p:cNvPr>
          <p:cNvSpPr/>
          <p:nvPr/>
        </p:nvSpPr>
        <p:spPr>
          <a:xfrm>
            <a:off x="104337" y="1410102"/>
            <a:ext cx="3525271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is the data divided for training and testing the prediction model?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66C274D-F7E6-04EB-91CC-2A795DE2C0CE}"/>
              </a:ext>
            </a:extLst>
          </p:cNvPr>
          <p:cNvSpPr/>
          <p:nvPr/>
        </p:nvSpPr>
        <p:spPr>
          <a:xfrm>
            <a:off x="3881096" y="1405979"/>
            <a:ext cx="3552291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Q.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users are predicted to be retained and at churn risk?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E31BD47-3C7A-E606-44C8-B7314BFA7691}"/>
              </a:ext>
            </a:extLst>
          </p:cNvPr>
          <p:cNvSpPr/>
          <p:nvPr/>
        </p:nvSpPr>
        <p:spPr>
          <a:xfrm>
            <a:off x="3881096" y="5867241"/>
            <a:ext cx="3552291" cy="735497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predicts that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users are at churn risk than retained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0FA7EE8-005E-B6E4-3E13-5E17825831EC}"/>
              </a:ext>
            </a:extLst>
          </p:cNvPr>
          <p:cNvSpPr/>
          <p:nvPr/>
        </p:nvSpPr>
        <p:spPr>
          <a:xfrm>
            <a:off x="104337" y="5867241"/>
            <a:ext cx="3525271" cy="735497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split into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80% training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 testing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reliable model evaluation.</a:t>
            </a:r>
            <a:endParaRPr lang="en-IN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C309EBB-C13B-F499-99F6-2A82F7AA9354}"/>
              </a:ext>
            </a:extLst>
          </p:cNvPr>
          <p:cNvSpPr/>
          <p:nvPr/>
        </p:nvSpPr>
        <p:spPr>
          <a:xfrm>
            <a:off x="7684874" y="1405979"/>
            <a:ext cx="4353169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closely do the predicted retention results match the actual outcomes?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B9629E1-FD92-933C-7807-4ECDAA101A2E}"/>
              </a:ext>
            </a:extLst>
          </p:cNvPr>
          <p:cNvSpPr/>
          <p:nvPr/>
        </p:nvSpPr>
        <p:spPr>
          <a:xfrm>
            <a:off x="7684873" y="5937084"/>
            <a:ext cx="4353169" cy="665654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results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closely match the actual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retention distribution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good model performance.</a:t>
            </a:r>
            <a:endParaRPr lang="en-IN" sz="1400" b="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540116-A18E-B394-8C9E-331DA26228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557" t="10293" r="36632" b="6603"/>
          <a:stretch>
            <a:fillRect/>
          </a:stretch>
        </p:blipFill>
        <p:spPr>
          <a:xfrm>
            <a:off x="153956" y="2313406"/>
            <a:ext cx="3475652" cy="32448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4631A3-BEF7-0994-30A7-02ABD56644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066" t="12329" r="33681"/>
          <a:stretch>
            <a:fillRect/>
          </a:stretch>
        </p:blipFill>
        <p:spPr>
          <a:xfrm>
            <a:off x="3881096" y="2315724"/>
            <a:ext cx="3552291" cy="32425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EBEF454-0988-563F-F90C-12FA358686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45" t="25870" r="37627" b="1567"/>
          <a:stretch>
            <a:fillRect/>
          </a:stretch>
        </p:blipFill>
        <p:spPr>
          <a:xfrm>
            <a:off x="7684875" y="2313406"/>
            <a:ext cx="4353169" cy="324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6852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BE7A8-8C6F-5B43-C948-85F894C5F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A6B22-D3F9-27AE-19EE-084618289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510" y="239246"/>
            <a:ext cx="10996826" cy="5943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2: 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Users with Churn Risk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6F6FFB-42C5-D1D9-C79F-5C9C38740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1631" y="46204"/>
            <a:ext cx="1460486" cy="102847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ABD1C4E-7F19-EE89-18CA-8742FCC63358}"/>
              </a:ext>
            </a:extLst>
          </p:cNvPr>
          <p:cNvSpPr/>
          <p:nvPr/>
        </p:nvSpPr>
        <p:spPr>
          <a:xfrm>
            <a:off x="382888" y="1186085"/>
            <a:ext cx="5253135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users are identified as being at churn risk?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9F89FEA-B40F-8451-3BB8-0DAF3D814AFE}"/>
              </a:ext>
            </a:extLst>
          </p:cNvPr>
          <p:cNvSpPr/>
          <p:nvPr/>
        </p:nvSpPr>
        <p:spPr>
          <a:xfrm>
            <a:off x="6555975" y="1186085"/>
            <a:ext cx="5253136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Q.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are users distributed based on churn probability?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5B1E2B0-351E-112A-A633-F2C3C53B0B0D}"/>
              </a:ext>
            </a:extLst>
          </p:cNvPr>
          <p:cNvSpPr/>
          <p:nvPr/>
        </p:nvSpPr>
        <p:spPr>
          <a:xfrm>
            <a:off x="382889" y="5980544"/>
            <a:ext cx="5253135" cy="637748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</a:t>
            </a:r>
            <a:r>
              <a:rPr lang="en-IN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number of users (24618) are predicted to be at </a:t>
            </a:r>
            <a:r>
              <a:rPr lang="en-IN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churn risk</a:t>
            </a:r>
            <a:r>
              <a:rPr lang="en-IN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450" b="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EA0F2D1-1CD8-CF95-F7C0-9EFF10635A69}"/>
              </a:ext>
            </a:extLst>
          </p:cNvPr>
          <p:cNvSpPr/>
          <p:nvPr/>
        </p:nvSpPr>
        <p:spPr>
          <a:xfrm>
            <a:off x="6555976" y="5974101"/>
            <a:ext cx="5253136" cy="637748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</a:t>
            </a:r>
            <a:r>
              <a:rPr lang="en-IN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users have </a:t>
            </a:r>
            <a:r>
              <a:rPr lang="en-IN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either very low or very high churn probability</a:t>
            </a:r>
            <a:r>
              <a:rPr lang="en-IN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targeted business actions.</a:t>
            </a:r>
            <a:endParaRPr lang="en-IN" sz="1450" b="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DBAC4D3-0189-C98F-4D26-C538423428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98" t="21117" r="36336" b="16363"/>
          <a:stretch>
            <a:fillRect/>
          </a:stretch>
        </p:blipFill>
        <p:spPr>
          <a:xfrm>
            <a:off x="382890" y="2310225"/>
            <a:ext cx="5253135" cy="34250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2428091-88F7-9B69-1984-8CC102DD2E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485" t="26159" r="44209" b="14393"/>
          <a:stretch>
            <a:fillRect/>
          </a:stretch>
        </p:blipFill>
        <p:spPr>
          <a:xfrm>
            <a:off x="6826564" y="2310225"/>
            <a:ext cx="4969772" cy="346436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BE42DEC-8AFA-6A79-08B0-36F7CB906A9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724" t="20973" r="38010" b="12617"/>
          <a:stretch>
            <a:fillRect/>
          </a:stretch>
        </p:blipFill>
        <p:spPr>
          <a:xfrm>
            <a:off x="6555975" y="2310225"/>
            <a:ext cx="5253135" cy="34730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C24BEF-C97F-9D90-32AB-84E61CF0A66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803" t="19764" r="37857"/>
          <a:stretch>
            <a:fillRect/>
          </a:stretch>
        </p:blipFill>
        <p:spPr>
          <a:xfrm>
            <a:off x="382888" y="1934762"/>
            <a:ext cx="5253135" cy="38914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A3424C-FEBA-047F-24AC-42A4362970A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566" t="15370" r="31429" b="9592"/>
          <a:stretch>
            <a:fillRect/>
          </a:stretch>
        </p:blipFill>
        <p:spPr>
          <a:xfrm>
            <a:off x="6555975" y="1934762"/>
            <a:ext cx="5253135" cy="384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2703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390B7-8E75-64EE-A31E-6AE852CAC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78409-4EC7-213E-5D20-289B29B17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510" y="239246"/>
            <a:ext cx="10996826" cy="5943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3: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Prediction Results for Business Decisions</a:t>
            </a:r>
            <a:endParaRPr lang="en-IN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6BF33D2-49BF-AD3C-6956-C6F0822F0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1631" y="46204"/>
            <a:ext cx="1460486" cy="102847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5D14833-6EB5-9DAC-9F72-DC83007D6415}"/>
              </a:ext>
            </a:extLst>
          </p:cNvPr>
          <p:cNvSpPr/>
          <p:nvPr/>
        </p:nvSpPr>
        <p:spPr>
          <a:xfrm>
            <a:off x="382888" y="1186085"/>
            <a:ext cx="5253135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genre contains the highest number of content titles?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CB0D157-5BE3-9F26-DA03-FADC69B11C88}"/>
              </a:ext>
            </a:extLst>
          </p:cNvPr>
          <p:cNvSpPr/>
          <p:nvPr/>
        </p:nvSpPr>
        <p:spPr>
          <a:xfrm>
            <a:off x="6555975" y="1186085"/>
            <a:ext cx="5253136" cy="594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Q.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prediction model accurate enough to support business decisions?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9AEEE8D-86D3-7114-FB7A-34615165830D}"/>
              </a:ext>
            </a:extLst>
          </p:cNvPr>
          <p:cNvSpPr/>
          <p:nvPr/>
        </p:nvSpPr>
        <p:spPr>
          <a:xfrm>
            <a:off x="227377" y="6110762"/>
            <a:ext cx="5650909" cy="637748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classified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22,462 non-churn users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9,708 churn users, out of which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1,674 non-churn users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2,156 churn users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misclassified.</a:t>
            </a:r>
            <a:endParaRPr lang="en-IN" sz="1400" b="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E538595-BFFE-1EDD-3209-0B9FB51AEAC5}"/>
              </a:ext>
            </a:extLst>
          </p:cNvPr>
          <p:cNvSpPr/>
          <p:nvPr/>
        </p:nvSpPr>
        <p:spPr>
          <a:xfrm>
            <a:off x="6555975" y="6107207"/>
            <a:ext cx="5253136" cy="637748"/>
          </a:xfrm>
          <a:prstGeom prst="roundRect">
            <a:avLst/>
          </a:prstGeom>
          <a:solidFill>
            <a:schemeClr val="tx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:- 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achieved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89.36% accuracy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reliable for supporting business decisions.</a:t>
            </a:r>
            <a:endParaRPr lang="en-IN" sz="1400" b="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44CE6F-117A-488C-4ACC-D471DDFBC3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405" t="18523" r="37000"/>
          <a:stretch>
            <a:fillRect/>
          </a:stretch>
        </p:blipFill>
        <p:spPr>
          <a:xfrm>
            <a:off x="513184" y="2006153"/>
            <a:ext cx="4926563" cy="38789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B81C48-FC86-54A2-59BD-F3BC3B2719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064" t="12080" r="36786"/>
          <a:stretch>
            <a:fillRect/>
          </a:stretch>
        </p:blipFill>
        <p:spPr>
          <a:xfrm>
            <a:off x="7138219" y="1993389"/>
            <a:ext cx="4147767" cy="376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5575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41A6B-5E6D-8E62-81F7-884E8BF4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110" y="107199"/>
            <a:ext cx="10515600" cy="499291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BDBFD-4A43-385A-5A4E-F604A8073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254" y="886408"/>
            <a:ext cx="9332893" cy="5696443"/>
          </a:xfrm>
        </p:spPr>
        <p:txBody>
          <a:bodyPr>
            <a:noAutofit/>
          </a:bodyPr>
          <a:lstStyle/>
          <a:p>
            <a:pPr lvl="0"/>
            <a:r>
              <a:rPr lang="en-IN" sz="1800" dirty="0"/>
              <a:t>Collected OTT platform datasets from NIIT portal . </a:t>
            </a:r>
          </a:p>
          <a:p>
            <a:pPr lvl="0"/>
            <a:endParaRPr lang="en-IN" sz="1800" dirty="0"/>
          </a:p>
          <a:p>
            <a:pPr lvl="0"/>
            <a:r>
              <a:rPr lang="en-IN" sz="1800" dirty="0"/>
              <a:t>Analyzed user behaviour, viewing patterns, and subscriptions. </a:t>
            </a:r>
          </a:p>
          <a:p>
            <a:pPr lvl="0">
              <a:lnSpc>
                <a:spcPct val="100000"/>
              </a:lnSpc>
            </a:pPr>
            <a:endParaRPr lang="en-IN" sz="1800" dirty="0"/>
          </a:p>
          <a:p>
            <a:pPr lvl="0"/>
            <a:r>
              <a:rPr lang="en-IN" sz="1800" dirty="0"/>
              <a:t>Compared engagement across age groups, regions, devices, and viewing time. </a:t>
            </a:r>
          </a:p>
          <a:p>
            <a:pPr lvl="0">
              <a:lnSpc>
                <a:spcPct val="100000"/>
              </a:lnSpc>
            </a:pPr>
            <a:endParaRPr lang="en-IN" sz="1800" dirty="0"/>
          </a:p>
          <a:p>
            <a:pPr lvl="0"/>
            <a:r>
              <a:rPr lang="en-IN" sz="1800" dirty="0"/>
              <a:t>Identified popular content and user preferences. </a:t>
            </a:r>
          </a:p>
          <a:p>
            <a:pPr lvl="0">
              <a:lnSpc>
                <a:spcPct val="100000"/>
              </a:lnSpc>
            </a:pPr>
            <a:endParaRPr lang="en-IN" sz="1800" dirty="0"/>
          </a:p>
          <a:p>
            <a:pPr lvl="0"/>
            <a:r>
              <a:rPr lang="en-IN" sz="1800" dirty="0"/>
              <a:t>Presented insights using interactive dashboards and reports. </a:t>
            </a:r>
          </a:p>
          <a:p>
            <a:pPr marL="0" lvl="0" indent="0">
              <a:buNone/>
            </a:pPr>
            <a:endParaRPr lang="en-IN" sz="1800" dirty="0"/>
          </a:p>
          <a:p>
            <a:pPr lvl="0"/>
            <a:r>
              <a:rPr lang="en-IN" sz="1800" dirty="0"/>
              <a:t>Predicted user retention and identified churn-risk users. </a:t>
            </a:r>
          </a:p>
          <a:p>
            <a:pPr lvl="0"/>
            <a:endParaRPr lang="en-IN" sz="1800" dirty="0"/>
          </a:p>
          <a:p>
            <a:pPr lvl="0"/>
            <a:r>
              <a:rPr lang="en-IN" sz="1800" dirty="0"/>
              <a:t>Provided business recommendations to improve user experience and retention.</a:t>
            </a:r>
          </a:p>
        </p:txBody>
      </p:sp>
    </p:spTree>
    <p:extLst>
      <p:ext uri="{BB962C8B-B14F-4D97-AF65-F5344CB8AC3E}">
        <p14:creationId xmlns:p14="http://schemas.microsoft.com/office/powerpoint/2010/main" val="5407893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A48BD-FB85-2E07-24DF-1F0765AC5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2939" y="1194319"/>
            <a:ext cx="9351657" cy="5459238"/>
          </a:xfrm>
        </p:spPr>
        <p:txBody>
          <a:bodyPr>
            <a:normAutofit/>
          </a:bodyPr>
          <a:lstStyle/>
          <a:p>
            <a:pPr lvl="0"/>
            <a:r>
              <a:rPr lang="en-IN" sz="1800" dirty="0"/>
              <a:t>Successfully analyzed OTT platform data to understand user behaviour and viewing trends. </a:t>
            </a:r>
          </a:p>
          <a:p>
            <a:pPr lvl="0"/>
            <a:endParaRPr lang="en-IN" sz="1800" dirty="0"/>
          </a:p>
          <a:p>
            <a:pPr lvl="0"/>
            <a:r>
              <a:rPr lang="en-IN" sz="1800" dirty="0"/>
              <a:t>Identified key factors influencing content popularity, user engagement, and subscription retention. </a:t>
            </a:r>
          </a:p>
          <a:p>
            <a:pPr lvl="0"/>
            <a:endParaRPr lang="en-IN" sz="1800" dirty="0"/>
          </a:p>
          <a:p>
            <a:pPr lvl="0"/>
            <a:r>
              <a:rPr lang="en-IN" sz="1800" dirty="0"/>
              <a:t>Generated meaningful insights to support better content and customer retention strategies. </a:t>
            </a:r>
          </a:p>
          <a:p>
            <a:pPr lvl="0"/>
            <a:endParaRPr lang="en-IN" sz="1800" dirty="0"/>
          </a:p>
          <a:p>
            <a:pPr lvl="0"/>
            <a:r>
              <a:rPr lang="en-IN" sz="1800" dirty="0"/>
              <a:t>Predicted user retention and identified potential churn-risk users for proactive decision-making. </a:t>
            </a:r>
          </a:p>
          <a:p>
            <a:pPr lvl="0"/>
            <a:endParaRPr lang="en-IN" sz="1800" dirty="0"/>
          </a:p>
          <a:p>
            <a:pPr lvl="0"/>
            <a:r>
              <a:rPr lang="en-IN" sz="1800" dirty="0"/>
              <a:t>Developed interactive dashboards and visual reports for easy business analysis. </a:t>
            </a:r>
          </a:p>
          <a:p>
            <a:pPr lvl="0"/>
            <a:endParaRPr lang="en-IN" sz="1800" dirty="0"/>
          </a:p>
          <a:p>
            <a:pPr lvl="0"/>
            <a:r>
              <a:rPr lang="en-IN" sz="1800" dirty="0"/>
              <a:t>The project demonstrates how data-driven insights can improve business decisions and enhance the overall user experience</a:t>
            </a:r>
            <a:r>
              <a:rPr lang="en-IN" sz="1600" dirty="0"/>
              <a:t>.</a:t>
            </a:r>
          </a:p>
          <a:p>
            <a:pPr marL="0" indent="0">
              <a:buNone/>
            </a:pP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8B756EB-031F-5693-B30E-AB135FE97F6E}"/>
              </a:ext>
            </a:extLst>
          </p:cNvPr>
          <p:cNvSpPr txBox="1">
            <a:spLocks/>
          </p:cNvSpPr>
          <p:nvPr/>
        </p:nvSpPr>
        <p:spPr>
          <a:xfrm>
            <a:off x="724313" y="204443"/>
            <a:ext cx="10608907" cy="4992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</p:spTree>
    <p:extLst>
      <p:ext uri="{BB962C8B-B14F-4D97-AF65-F5344CB8AC3E}">
        <p14:creationId xmlns:p14="http://schemas.microsoft.com/office/powerpoint/2010/main" val="10978431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6127F-E1E0-472A-CAAC-DF5744201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033929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100260</TotalTime>
  <Words>1861</Words>
  <Application>Microsoft Office PowerPoint</Application>
  <PresentationFormat>Widescreen</PresentationFormat>
  <Paragraphs>219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Arial</vt:lpstr>
      <vt:lpstr>Times New Roman</vt:lpstr>
      <vt:lpstr>Tw Cen MT</vt:lpstr>
      <vt:lpstr>Circuit</vt:lpstr>
      <vt:lpstr>  name : SRINIVAS HEMANT PATEL  Course NAME : Professional Program in Data Analytics with Gen AI - 71  mentor name : ASHISH RAJPUT   </vt:lpstr>
      <vt:lpstr>Introduction</vt:lpstr>
      <vt:lpstr>DATASET SOURCE</vt:lpstr>
      <vt:lpstr> OBJECTIVES  &amp; TASKS</vt:lpstr>
      <vt:lpstr>PROJECT FLOW</vt:lpstr>
      <vt:lpstr>PowerPoint Presentation</vt:lpstr>
      <vt:lpstr>TASK 1 :- Analyze Content Preferences</vt:lpstr>
      <vt:lpstr>TASK 2 : Evaluate OTT Platform Performance</vt:lpstr>
      <vt:lpstr>PowerPoint Presentation</vt:lpstr>
      <vt:lpstr>PowerPoint Presentation</vt:lpstr>
      <vt:lpstr>Task 1: Analyze Viewing Habits Across Audience Groups</vt:lpstr>
      <vt:lpstr>Task 2: Identify Peak Viewing Time Trends &amp; FEEDBACK CATEGORY</vt:lpstr>
      <vt:lpstr>PowerPoint Presentation</vt:lpstr>
      <vt:lpstr>TASK 1 : Analyze User Engagement Across Different Segments</vt:lpstr>
      <vt:lpstr>Task 2 :- analyze User Viewing Behaviour</vt:lpstr>
      <vt:lpstr>Task 4 :-  Analyze User Ratings and Preferences</vt:lpstr>
      <vt:lpstr>PowerPoint Presentation</vt:lpstr>
      <vt:lpstr>Task 1: Analyze User Ratings and Reviews</vt:lpstr>
      <vt:lpstr>Task 2: Evaluate Content Completion Behaviour</vt:lpstr>
      <vt:lpstr>Task 3: Identify Overall Viewing Behaviour Patterns</vt:lpstr>
      <vt:lpstr>PowerPoint Presentation</vt:lpstr>
      <vt:lpstr>Task 1: Analyze User Engagement Insights</vt:lpstr>
      <vt:lpstr>Task 2: Analyze Viewing Behavior</vt:lpstr>
      <vt:lpstr>Task 3: Analyze Content Performance</vt:lpstr>
      <vt:lpstr>PowerPoint Presentation</vt:lpstr>
      <vt:lpstr>PowerPoint Presentation</vt:lpstr>
      <vt:lpstr>Task 1: Predict Future User Retention Trends</vt:lpstr>
      <vt:lpstr>Task 2:  Identify Users with Churn Risk</vt:lpstr>
      <vt:lpstr>Task 3: Evaluate Prediction Results for Business Decisions</vt:lpstr>
      <vt:lpstr>SUMMARY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Srinivas Patel</dc:creator>
  <cp:lastModifiedBy>Srinivas Patel</cp:lastModifiedBy>
  <cp:revision>62</cp:revision>
  <dcterms:created xsi:type="dcterms:W3CDTF">2026-01-01T04:56:55Z</dcterms:created>
  <dcterms:modified xsi:type="dcterms:W3CDTF">2026-08-14T12:54:34Z</dcterms:modified>
</cp:coreProperties>
</file>